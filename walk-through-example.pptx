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1" r:id="rId9"/>
    <p:sldId id="282" r:id="rId10"/>
    <p:sldId id="280" r:id="rId11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B2"/>
    <a:srgbClr val="F2F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8"/>
    <p:restoredTop sz="94647"/>
  </p:normalViewPr>
  <p:slideViewPr>
    <p:cSldViewPr snapToGrid="0">
      <p:cViewPr varScale="1">
        <p:scale>
          <a:sx n="151" d="100"/>
          <a:sy n="151" d="100"/>
        </p:scale>
        <p:origin x="1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Title"/>
          <p:cNvSpPr txBox="1"/>
          <p:nvPr/>
        </p:nvSpPr>
        <p:spPr>
          <a:xfrm>
            <a:off x="457200" y="2000000"/>
            <a:ext cx="82296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A Two-Channel Cascade Model of Bank Failure</a:t>
            </a:r>
          </a:p>
        </p:txBody>
      </p:sp>
      <p:sp>
        <p:nvSpPr>
          <p:cNvPr id="12" name="Sub"/>
          <p:cNvSpPr txBox="1"/>
          <p:nvPr/>
        </p:nvSpPr>
        <p:spPr>
          <a:xfrm>
            <a:off x="457200" y="356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Coupling a Janson solvency threshold with a self-referential </a:t>
            </a:r>
            <a:r>
              <a:rPr lang="en-US" sz="2400" b="0" i="1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fear</a:t>
            </a:r>
            <a:r>
              <a:rPr lang="en-US" sz="2400" b="0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 channel</a:t>
            </a:r>
          </a:p>
        </p:txBody>
      </p:sp>
      <p:sp>
        <p:nvSpPr>
          <p:cNvPr id="13" name="Sub2"/>
          <p:cNvSpPr txBox="1"/>
          <p:nvPr/>
        </p:nvSpPr>
        <p:spPr>
          <a:xfrm>
            <a:off x="457200" y="4500000"/>
            <a:ext cx="82296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Research progress update  —  Summer Undergraduate Research</a:t>
            </a:r>
          </a:p>
        </p:txBody>
      </p:sp>
      <p:sp>
        <p:nvSpPr>
          <p:cNvPr id="14" name="Author"/>
          <p:cNvSpPr txBox="1"/>
          <p:nvPr/>
        </p:nvSpPr>
        <p:spPr>
          <a:xfrm>
            <a:off x="457200" y="5150000"/>
            <a:ext cx="82296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Gary Mei   ·   Georgia Tech ISyE   ·   Advisor: Prof. Souvik Dhara   ·   June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eaderBar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3" name="Title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model: two ways a bank can fail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B"/>
              <p:cNvSpPr txBox="1"/>
              <p:nvPr/>
            </p:nvSpPr>
            <p:spPr>
              <a:xfrm>
                <a:off x="548640" y="1010000"/>
                <a:ext cx="8046720" cy="1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marL="285750" indent="-228600" algn="l">
                  <a:lnSpc>
                    <a:spcPct val="11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3333B2"/>
                  </a:buClr>
                  <a:buSzPct val="78000"/>
                  <a:buFont typeface="Lato"/>
                  <a:buChar char="▪"/>
                </a:pP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Interbank network is an Erdős–Rényi graph </a:t>
                </a:r>
                <a:r>
                  <a:rPr lang="en-US" sz="16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G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(</a:t>
                </a:r>
                <a:r>
                  <a:rPr lang="en-US" sz="16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n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,</a:t>
                </a:r>
                <a:r>
                  <a:rPr lang="en-US" sz="16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p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); each bank is solvent or failed, and failure is </a:t>
                </a:r>
                <a:r>
                  <a:rPr lang="en-US" sz="16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absorbing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.</a:t>
                </a:r>
              </a:p>
              <a:p>
                <a:pPr marL="285750" indent="-228600" algn="l">
                  <a:lnSpc>
                    <a:spcPct val="11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3333B2"/>
                  </a:buClr>
                  <a:buSzPct val="78000"/>
                  <a:buFont typeface="Lato"/>
                  <a:buChar char="▪"/>
                </a:pPr>
                <a:r>
                  <a:rPr lang="en-US" sz="1600" b="0" i="0" dirty="0">
                    <a:solidFill>
                      <a:srgbClr val="3333B2"/>
                    </a:solidFill>
                    <a:latin typeface="Lato"/>
                    <a:ea typeface="Lato"/>
                    <a:cs typeface="Lato"/>
                  </a:rPr>
                  <a:t>Channel 1 — Solvency (Janson).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 A bank fails once ≥ </a:t>
                </a:r>
                <a:r>
                  <a:rPr lang="en-US" sz="16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r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of its neighbors have failed (local capital-buffer rule).</a:t>
                </a:r>
              </a:p>
              <a:p>
                <a:pPr marL="285750" indent="-228600">
                  <a:lnSpc>
                    <a:spcPct val="110000"/>
                  </a:lnSpc>
                  <a:spcBef>
                    <a:spcPts val="560"/>
                  </a:spcBef>
                  <a:buClr>
                    <a:srgbClr val="3333B2"/>
                  </a:buClr>
                  <a:buSzPct val="78000"/>
                  <a:buFont typeface="Lato"/>
                  <a:buChar char="▪"/>
                </a:pPr>
                <a:r>
                  <a:rPr lang="en-US" sz="1600" b="0" i="0" dirty="0">
                    <a:solidFill>
                      <a:srgbClr val="C0392B"/>
                    </a:solidFill>
                    <a:latin typeface="Lato"/>
                    <a:ea typeface="Lato"/>
                    <a:cs typeface="Lato"/>
                  </a:rPr>
                  <a:t>Channel 2 — Fear (global).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 </a:t>
                </a:r>
                <a:r>
                  <a:rPr lang="en-US" sz="1600" dirty="0">
                    <a:latin typeface="Lato"/>
                    <a:ea typeface="Lato"/>
                    <a:cs typeface="Lato"/>
                  </a:rPr>
                  <a:t>This is denoted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Lato"/>
                                <a:cs typeface="Lato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Lato"/>
                                <a:cs typeface="Lato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Lato"/>
                                <a:cs typeface="Lato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Lato"/>
                                <a:cs typeface="Lato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(last round's failure rate); </a:t>
                </a:r>
              </a:p>
              <a:p>
                <a:pPr marL="57150">
                  <a:lnSpc>
                    <a:spcPct val="110000"/>
                  </a:lnSpc>
                  <a:spcBef>
                    <a:spcPts val="560"/>
                  </a:spcBef>
                  <a:buClr>
                    <a:srgbClr val="3333B2"/>
                  </a:buClr>
                  <a:buSzPct val="78000"/>
                </a:pPr>
                <a:r>
                  <a:rPr lang="en-US" sz="1600" dirty="0">
                    <a:latin typeface="Lato"/>
                    <a:ea typeface="Lato"/>
                    <a:cs typeface="Lato"/>
                  </a:rPr>
                  <a:t>     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bank </a:t>
                </a:r>
                <a:r>
                  <a:rPr lang="en-US" sz="16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i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also fails </a:t>
                </a:r>
                <a:r>
                  <a:rPr lang="en-US" sz="1600" b="0" i="0" dirty="0" err="1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w.p.</a:t>
                </a: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⋅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𝑔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~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𝐵𝑒𝑡𝑎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𝛼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,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𝛽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)</m:t>
                    </m:r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, with mean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𝜇</m:t>
                    </m:r>
                    <m: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𝛼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𝛼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+ 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𝛼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,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𝛽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&gt;0</m:t>
                    </m:r>
                  </m:oMath>
                </a14:m>
                <a:endParaRPr lang="en-US" sz="1600" b="0" i="0" dirty="0">
                  <a:solidFill>
                    <a:srgbClr val="000000"/>
                  </a:solidFill>
                  <a:latin typeface="Lato"/>
                  <a:ea typeface="Lato"/>
                  <a:cs typeface="Lato"/>
                </a:endParaRPr>
              </a:p>
            </p:txBody>
          </p:sp>
        </mc:Choice>
        <mc:Fallback xmlns="">
          <p:sp>
            <p:nvSpPr>
              <p:cNvPr id="1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010000"/>
                <a:ext cx="8046720" cy="1950000"/>
              </a:xfrm>
              <a:prstGeom prst="rect">
                <a:avLst/>
              </a:prstGeom>
              <a:blipFill>
                <a:blip r:embed="rId2"/>
                <a:stretch>
                  <a:fillRect l="-631" t="-3226" r="-1262" b="-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"/>
          <p:cNvPicPr/>
          <p:nvPr/>
        </p:nvPicPr>
        <p:blipFill>
          <a:blip r:embed="rId3"/>
          <a:stretch>
            <a:fillRect/>
          </a:stretch>
        </p:blipFill>
        <p:spPr>
          <a:xfrm>
            <a:off x="2453569" y="3050000"/>
            <a:ext cx="4236861" cy="2350000"/>
          </a:xfrm>
          <a:prstGeom prst="rect">
            <a:avLst/>
          </a:prstGeom>
        </p:spPr>
      </p:pic>
      <p:sp>
        <p:nvSpPr>
          <p:cNvPr id="11" name="KeyFact"/>
          <p:cNvSpPr/>
          <p:nvPr/>
        </p:nvSpPr>
        <p:spPr>
          <a:xfrm>
            <a:off x="548640" y="5560000"/>
            <a:ext cx="8046720" cy="760000"/>
          </a:xfrm>
          <a:prstGeom prst="roundRect">
            <a:avLst>
              <a:gd name="adj" fmla="val 7000"/>
            </a:avLst>
          </a:prstGeom>
          <a:solidFill>
            <a:srgbClr val="EEEEF8"/>
          </a:solidFill>
          <a:ln w="12700">
            <a:solidFill>
              <a:srgbClr val="3333B2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Key fact:  fear is a </a:t>
            </a:r>
            <a:r>
              <a:rPr lang="en-US" sz="13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subcritical amplifier</a:t>
            </a:r>
            <a:r>
              <a:rPr lang="en-US" sz="13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</a:t>
            </a:r>
            <a:r>
              <a:rPr lang="en-US" sz="13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13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_fear ≈ </a:t>
            </a:r>
            <a:r>
              <a:rPr lang="en-US" sz="13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μ</a:t>
            </a:r>
            <a:r>
              <a:rPr lang="en-US" sz="13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&lt; 1. It cannot ignite a cascade alone; it only amplifies one that the solvency channel has already started.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48640" y="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 algn="l"/>
            <a:r>
              <a:rPr sz="2200" dirty="0">
                <a:solidFill>
                  <a:srgbClr val="FFFFFF"/>
                </a:solidFill>
                <a:latin typeface="Lato"/>
              </a:rPr>
              <a:t>The Variables</a:t>
            </a:r>
            <a:r>
              <a:rPr lang="en-US" sz="2200" dirty="0">
                <a:solidFill>
                  <a:srgbClr val="FFFFFF"/>
                </a:solidFill>
                <a:latin typeface="Lato"/>
              </a:rPr>
              <a:t>: Network &amp; Solvency channel </a:t>
            </a:r>
            <a:endParaRPr sz="2200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030901"/>
            <a:ext cx="141064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 i="1">
                <a:solidFill>
                  <a:srgbClr val="3333B2"/>
                </a:solidFill>
                <a:latin typeface="Lato"/>
              </a:defRPr>
            </a:pPr>
            <a:r>
              <a:rPr sz="2000" dirty="0"/>
              <a:t>The Network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4313716"/>
                  </p:ext>
                </p:extLst>
              </p:nvPr>
            </p:nvGraphicFramePr>
            <p:xfrm>
              <a:off x="548640" y="1528331"/>
              <a:ext cx="8046720" cy="1889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>
                              <a:solidFill>
                                <a:srgbClr val="333333"/>
                              </a:solidFill>
                              <a:latin typeface="Lato"/>
                            </a:rPr>
                            <a:t>Number of banks in the system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Probability any two banks are connected (edge probability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)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𝒏𝒑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Mean number of connections per bank (mean degree)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4313716"/>
                  </p:ext>
                </p:extLst>
              </p:nvPr>
            </p:nvGraphicFramePr>
            <p:xfrm>
              <a:off x="548640" y="1528331"/>
              <a:ext cx="8046720" cy="1889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06250" r="-390000" b="-2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>
                              <a:solidFill>
                                <a:srgbClr val="333333"/>
                              </a:solidFill>
                              <a:latin typeface="Lato"/>
                            </a:rPr>
                            <a:t>Number of banks in the system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17857" r="-390000" b="-6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17857" r="-595" b="-6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393548" r="-390000" b="-2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Mean number of connections per bank (mean degree)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548640" y="3816773"/>
            <a:ext cx="217527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 i="1">
                <a:solidFill>
                  <a:srgbClr val="3333B2"/>
                </a:solidFill>
                <a:latin typeface="Lato"/>
              </a:defRPr>
            </a:pPr>
            <a:r>
              <a:rPr sz="2000" dirty="0"/>
              <a:t>Channel 1</a:t>
            </a:r>
            <a:r>
              <a:rPr lang="en-US" sz="2000" dirty="0"/>
              <a:t>:</a:t>
            </a:r>
            <a:r>
              <a:rPr sz="2000" dirty="0"/>
              <a:t> Solvency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831155"/>
                  </p:ext>
                </p:extLst>
              </p:nvPr>
            </p:nvGraphicFramePr>
            <p:xfrm>
              <a:off x="548640" y="4149852"/>
              <a:ext cx="804672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Capital buffer depth — a bank fails if at least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of its neighbors have already failed;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lit/>
                                </m:rP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m:rPr>
                                  <m:lit/>
                                </m:rP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(tested)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831155"/>
                  </p:ext>
                </p:extLst>
              </p:nvPr>
            </p:nvGraphicFramePr>
            <p:xfrm>
              <a:off x="548640" y="4149852"/>
              <a:ext cx="8046720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9" t="-60714" r="-390000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992" t="-60714" r="-595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48640" y="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 algn="l"/>
            <a:r>
              <a:rPr sz="2200" dirty="0">
                <a:solidFill>
                  <a:srgbClr val="FFFFFF"/>
                </a:solidFill>
                <a:latin typeface="Lato"/>
              </a:rPr>
              <a:t>The Variables</a:t>
            </a:r>
            <a:r>
              <a:rPr lang="en-US" sz="2200" dirty="0">
                <a:solidFill>
                  <a:srgbClr val="FFFFFF"/>
                </a:solidFill>
                <a:latin typeface="Lato"/>
              </a:rPr>
              <a:t>: Fear Channel</a:t>
            </a:r>
            <a:endParaRPr sz="2200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69918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 i="1">
                <a:solidFill>
                  <a:srgbClr val="3333B2"/>
                </a:solidFill>
                <a:latin typeface="Lato"/>
              </a:defRPr>
            </a:pPr>
            <a:r>
              <a:rPr sz="2000" dirty="0"/>
              <a:t>Channel 2</a:t>
            </a:r>
            <a:r>
              <a:rPr lang="en-US" sz="2000" dirty="0"/>
              <a:t>:</a:t>
            </a:r>
            <a:r>
              <a:rPr sz="2000" dirty="0"/>
              <a:t> Fear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142769"/>
                  </p:ext>
                </p:extLst>
              </p:nvPr>
            </p:nvGraphicFramePr>
            <p:xfrm>
              <a:off x="548640" y="1236893"/>
              <a:ext cx="8046720" cy="4138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Average individual fear across all banks; the main sweep axis,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∈[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𝜿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How tightly clustered individual fears are around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 (Beta concentration parameter)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Each bank's personal fear sensitivity, drawn once at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𝑩𝒆𝒕𝒂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𝝁𝜿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num>
                                <m:den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𝜿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, so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exactly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Global fear field at round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: fraction of banks that newly failed in the previous round,</a:t>
                          </a:r>
                          <a:r>
                            <a:rPr lang="en-US" sz="2000" b="1" dirty="0">
                              <a:solidFill>
                                <a:srgbClr val="333333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  <m: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b="1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b="1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oMath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Probability bank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fails through fear in round </a:t>
                          </a:r>
                          <a:endParaRPr lang="en-US" sz="2000" b="1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000" b="1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Bernoulli draw with this probability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142769"/>
                  </p:ext>
                </p:extLst>
              </p:nvPr>
            </p:nvGraphicFramePr>
            <p:xfrm>
              <a:off x="548640" y="1236893"/>
              <a:ext cx="8046720" cy="4138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60714" r="-390000" b="-444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60714" r="-595" b="-444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63636" r="-390000" b="-35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63636" r="-595" b="-35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365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219697" r="-390000" b="-19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219697" r="-595" b="-193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027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329688" r="-39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329688" r="-59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500000" r="-390000" b="-1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500000" r="-595" b="-1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 algn="l"/>
            <a:r>
              <a:rPr sz="2200">
                <a:solidFill>
                  <a:srgbClr val="FFFFFF"/>
                </a:solidFill>
                <a:latin typeface="Lato"/>
              </a:rPr>
              <a:t>The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90086"/>
            <a:ext cx="389529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 i="1">
                <a:solidFill>
                  <a:srgbClr val="3333B2"/>
                </a:solidFill>
                <a:latin typeface="Lato"/>
              </a:defRPr>
            </a:pPr>
            <a:r>
              <a:rPr sz="2000" dirty="0"/>
              <a:t>State Variables (change each round)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745186"/>
                  </p:ext>
                </p:extLst>
              </p:nvPr>
            </p:nvGraphicFramePr>
            <p:xfrm>
              <a:off x="548640" y="1246701"/>
              <a:ext cx="8046720" cy="52858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Cumulative number of failed banks after round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Initial shock. How many banks start failed </a:t>
                          </a:r>
                        </a:p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(seed size, at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)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New failures in round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. Drives the next round's fear field via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>
                              <a:solidFill>
                                <a:srgbClr val="333333"/>
                              </a:solidFill>
                              <a:latin typeface="Lato"/>
                            </a:rPr>
                            <a:t>Final failed count when the cascade stops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b="1" i="1" smtClean="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 smtClean="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p>
                                        <m:r>
                                          <a:rPr lang="en-US" sz="2000" b="1" i="1" smtClean="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Final failed fraction</a:t>
                          </a:r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.</a:t>
                          </a:r>
                          <a:r>
                            <a:rPr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</a:t>
                          </a:r>
                          <a:r>
                            <a:rPr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he key outcome variable</a:t>
                          </a:r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The set of nodes that failed in generation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due to solvency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22977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The set of nodes that failed in generation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due to fear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641865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The generation that “step”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belongs to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579078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The step count at which the current generation ends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29139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745186"/>
                  </p:ext>
                </p:extLst>
              </p:nvPr>
            </p:nvGraphicFramePr>
            <p:xfrm>
              <a:off x="548640" y="1246701"/>
              <a:ext cx="8046720" cy="52858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06250" r="-390000" b="-1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06250" r="-595" b="-11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20000" r="-390000" b="-5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20000" r="-595" b="-55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041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92063" r="-390000" b="-3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92063" r="-595" b="-3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575000" r="-390000" b="-6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>
                              <a:solidFill>
                                <a:srgbClr val="333333"/>
                              </a:solidFill>
                              <a:latin typeface="Lato"/>
                            </a:rPr>
                            <a:t>Final failed count when the cascade stops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729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407547" r="-39000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Final failed fraction</a:t>
                          </a:r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.</a:t>
                          </a:r>
                          <a:r>
                            <a:rPr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</a:t>
                          </a:r>
                          <a:r>
                            <a:rPr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he key outcome variable</a:t>
                          </a:r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489091" r="-390000" b="-18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489091" r="-595" b="-18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22977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045161" r="-390000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045161" r="-595" b="-2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64186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145161" r="-390000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992" t="-1145161" r="-595" b="-1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5790783"/>
                      </a:ext>
                    </a:extLst>
                  </a:tr>
                  <a:tr h="425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135294" r="-390000" b="-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The step count at which the current generation ends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291396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B95D-14B1-DE2E-4239-859EF3D3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2B5FA6A2-2EF9-7A34-9560-FD06C2D3B1F5}"/>
              </a:ext>
            </a:extLst>
          </p:cNvPr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809AEEE-6625-8C54-FA72-F1A0961C5E76}"/>
              </a:ext>
            </a:extLst>
          </p:cNvPr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 algn="l"/>
            <a:r>
              <a:rPr sz="2200">
                <a:solidFill>
                  <a:srgbClr val="FFFFFF"/>
                </a:solidFill>
                <a:latin typeface="Lato"/>
              </a:rPr>
              <a:t>The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8B1EBF-0C97-6B98-1A58-4CB0AC0D0818}"/>
                  </a:ext>
                </a:extLst>
              </p:cNvPr>
              <p:cNvSpPr txBox="1"/>
              <p:nvPr/>
            </p:nvSpPr>
            <p:spPr>
              <a:xfrm>
                <a:off x="548640" y="3103190"/>
                <a:ext cx="5195140" cy="30777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defRPr sz="1300" b="1" i="1">
                    <a:solidFill>
                      <a:srgbClr val="3333B2"/>
                    </a:solidFill>
                    <a:latin typeface="Lato"/>
                  </a:defRPr>
                </a:pPr>
                <a:r>
                  <a:rPr lang="en-US" sz="2000" dirty="0">
                    <a:solidFill>
                      <a:srgbClr val="3333B2"/>
                    </a:solidFill>
                  </a:rPr>
                  <a:t>Analytical Benchmarks (no-fear baseline,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3333B2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2000" b="1" i="1" smtClean="0">
                        <a:solidFill>
                          <a:srgbClr val="3333B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3333B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solidFill>
                      <a:srgbClr val="3333B2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8B1EBF-0C97-6B98-1A58-4CB0AC0D0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103190"/>
                <a:ext cx="5195140" cy="307777"/>
              </a:xfrm>
              <a:prstGeom prst="rect">
                <a:avLst/>
              </a:prstGeom>
              <a:blipFill>
                <a:blip r:embed="rId2"/>
                <a:stretch>
                  <a:fillRect l="-2927" t="-24000" r="-1951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6B0549B-3510-D117-3F31-9D5227282A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0873512"/>
                  </p:ext>
                </p:extLst>
              </p:nvPr>
            </p:nvGraphicFramePr>
            <p:xfrm>
              <a:off x="548640" y="3410967"/>
              <a:ext cx="8046720" cy="3049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Intermediate scale used to compute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!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000" b="0" i="0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Janson critical seed size at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b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 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Conjectured scaling law: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oMath>
                          </a14:m>
                          <a:b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</a:br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The threshold shifts left as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grows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6B0549B-3510-D117-3F31-9D5227282A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0873512"/>
                  </p:ext>
                </p:extLst>
              </p:nvPr>
            </p:nvGraphicFramePr>
            <p:xfrm>
              <a:off x="548640" y="3410967"/>
              <a:ext cx="8046720" cy="3049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270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9" t="-41975" r="-390000" b="-169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992" t="-41975" r="-595" b="-169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66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9" t="-174242" r="-390000" b="-107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992" t="-174242" r="-595" b="-107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9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9" t="-287302" r="-390000" b="-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992" t="-287302" r="-595" b="-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A1DBE81-E4B4-C133-FD0D-4A632B05DD42}"/>
              </a:ext>
            </a:extLst>
          </p:cNvPr>
          <p:cNvSpPr txBox="1"/>
          <p:nvPr/>
        </p:nvSpPr>
        <p:spPr>
          <a:xfrm>
            <a:off x="548640" y="849521"/>
            <a:ext cx="150682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 i="1">
                <a:solidFill>
                  <a:srgbClr val="3333B2"/>
                </a:solidFill>
                <a:latin typeface="Lato"/>
              </a:defRPr>
            </a:pPr>
            <a:r>
              <a:rPr sz="2000" dirty="0"/>
              <a:t>Measurement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E5811FD-E3C4-FC91-4A10-581BD8B7B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5304137"/>
                  </p:ext>
                </p:extLst>
              </p:nvPr>
            </p:nvGraphicFramePr>
            <p:xfrm>
              <a:off x="548640" y="1165571"/>
              <a:ext cx="8046720" cy="19484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Systemic-event threshold: a run counts as "systemic" if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b="0" i="1" smtClean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, current working value of</a:t>
                          </a:r>
                          <a:r>
                            <a:rPr lang="en-US" sz="2000" baseline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=0.5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𝒔𝒚𝒔𝒕𝒆𝒎𝒊𝒄</m:t>
                                </m:r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Fraction of simulation runs that end as systemic events. The phase diagram’s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-axis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E5811FD-E3C4-FC91-4A10-581BD8B7B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5304137"/>
                  </p:ext>
                </p:extLst>
              </p:nvPr>
            </p:nvGraphicFramePr>
            <p:xfrm>
              <a:off x="548640" y="1165571"/>
              <a:ext cx="8046720" cy="19484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Symbol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2000" b="1">
                              <a:solidFill>
                                <a:srgbClr val="FFFFFF"/>
                              </a:solidFill>
                              <a:latin typeface="Lato"/>
                            </a:rPr>
                            <a:t>What it is</a:t>
                          </a: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512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69" t="-50746" r="-390000" b="-95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992" t="-50746" r="-595" b="-95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69" t="-180357" r="-390000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992" t="-180357" r="-595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381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F89AD-1F0D-CCBC-3F92-0A03D8F3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9528F81E-4BCA-C3F1-D668-DAD46171C411}"/>
              </a:ext>
            </a:extLst>
          </p:cNvPr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C24D551-66F5-862D-0B61-87BDF9B48734}"/>
              </a:ext>
            </a:extLst>
          </p:cNvPr>
          <p:cNvSpPr txBox="1"/>
          <p:nvPr/>
        </p:nvSpPr>
        <p:spPr>
          <a:xfrm>
            <a:off x="548640" y="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 algn="l"/>
            <a:r>
              <a:rPr lang="en-US" sz="2200" dirty="0">
                <a:solidFill>
                  <a:srgbClr val="FFFFFF"/>
                </a:solidFill>
                <a:latin typeface="Lato"/>
              </a:rPr>
              <a:t>Now to walk through an example</a:t>
            </a:r>
            <a:endParaRPr sz="2200" dirty="0">
              <a:solidFill>
                <a:srgbClr val="FFFFFF"/>
              </a:solidFill>
              <a:latin typeface="Lat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90C79ED-E71B-5888-8189-E71A02A65D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0985278"/>
                  </p:ext>
                </p:extLst>
              </p:nvPr>
            </p:nvGraphicFramePr>
            <p:xfrm>
              <a:off x="80432" y="1339074"/>
              <a:ext cx="8983136" cy="4255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d>
                                  <m:dPr>
                                    <m:ctrlP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90C79ED-E71B-5888-8189-E71A02A65D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0985278"/>
                  </p:ext>
                </p:extLst>
              </p:nvPr>
            </p:nvGraphicFramePr>
            <p:xfrm>
              <a:off x="80432" y="1339074"/>
              <a:ext cx="8983136" cy="4255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425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2941" r="-312727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2941" r="-700000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2941" r="-600000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2941" r="-507059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2941" r="-40116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2941" r="-30116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2941" r="-20116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2941" r="-103529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2941" r="-2326" b="-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B">
                <a:extLst>
                  <a:ext uri="{FF2B5EF4-FFF2-40B4-BE49-F238E27FC236}">
                    <a16:creationId xmlns:a16="http://schemas.microsoft.com/office/drawing/2014/main" id="{BC389B44-7FDA-29D0-14CE-CA91FD7D885A}"/>
                  </a:ext>
                </a:extLst>
              </p:cNvPr>
              <p:cNvSpPr txBox="1"/>
              <p:nvPr/>
            </p:nvSpPr>
            <p:spPr>
              <a:xfrm>
                <a:off x="80433" y="890218"/>
                <a:ext cx="8983135" cy="4507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marL="57150">
                  <a:lnSpc>
                    <a:spcPct val="110000"/>
                  </a:lnSpc>
                  <a:spcBef>
                    <a:spcPts val="300"/>
                  </a:spcBef>
                  <a:buClr>
                    <a:srgbClr val="3333B2"/>
                  </a:buClr>
                  <a:buSzPct val="78000"/>
                </a:pPr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We initialize with generation</a:t>
                </a:r>
                <a:r>
                  <a:rPr lang="en-US" sz="1600" dirty="0">
                    <a:ea typeface="Lato"/>
                    <a:cs typeface="Lato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=0</m:t>
                    </m:r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𝑍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=∅</m:t>
                    </m:r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= </m:t>
                    </m:r>
                    <m:r>
                      <m:rPr>
                        <m:lit/>
                      </m:rP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{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1, 4</m:t>
                    </m:r>
                    <m:r>
                      <m:rPr>
                        <m:lit/>
                      </m:rPr>
                      <a:rPr lang="en-US" sz="1600" b="0" i="1" smtClean="0">
                        <a:latin typeface="Cambria Math" panose="02040503050406030204" pitchFamily="18" charset="0"/>
                        <a:ea typeface="Lato"/>
                        <a:cs typeface="Lato"/>
                      </a:rPr>
                      <m:t>}</m:t>
                    </m:r>
                  </m:oMath>
                </a14:m>
                <a:r>
                  <a:rPr lang="en-US" sz="16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𝑟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ato"/>
                        <a:cs typeface="Lato"/>
                      </a:rPr>
                      <m:t>=2</m:t>
                    </m:r>
                  </m:oMath>
                </a14:m>
                <a:endParaRPr lang="en-US" sz="1600" b="0" i="0" dirty="0">
                  <a:solidFill>
                    <a:srgbClr val="000000"/>
                  </a:solidFill>
                  <a:latin typeface="Lato"/>
                  <a:ea typeface="Lato"/>
                  <a:cs typeface="Lato"/>
                </a:endParaRPr>
              </a:p>
            </p:txBody>
          </p:sp>
        </mc:Choice>
        <mc:Fallback>
          <p:sp>
            <p:nvSpPr>
              <p:cNvPr id="84" name="TB">
                <a:extLst>
                  <a:ext uri="{FF2B5EF4-FFF2-40B4-BE49-F238E27FC236}">
                    <a16:creationId xmlns:a16="http://schemas.microsoft.com/office/drawing/2014/main" id="{BC389B44-7FDA-29D0-14CE-CA91FD7D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" y="890218"/>
                <a:ext cx="8983135" cy="450700"/>
              </a:xfrm>
              <a:prstGeom prst="rect">
                <a:avLst/>
              </a:prstGeom>
              <a:blipFill>
                <a:blip r:embed="rId3"/>
                <a:stretch>
                  <a:fillRect l="-847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Node_4">
            <a:extLst>
              <a:ext uri="{FF2B5EF4-FFF2-40B4-BE49-F238E27FC236}">
                <a16:creationId xmlns:a16="http://schemas.microsoft.com/office/drawing/2014/main" id="{92B93FC0-85BB-4D12-2A9C-9320B3AA07AB}"/>
              </a:ext>
            </a:extLst>
          </p:cNvPr>
          <p:cNvSpPr/>
          <p:nvPr/>
        </p:nvSpPr>
        <p:spPr>
          <a:xfrm>
            <a:off x="274320" y="3318314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Lato"/>
              </a:rPr>
              <a:t>x</a:t>
            </a:r>
            <a:endParaRPr sz="1200" b="1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90" name="Node_2">
            <a:extLst>
              <a:ext uri="{FF2B5EF4-FFF2-40B4-BE49-F238E27FC236}">
                <a16:creationId xmlns:a16="http://schemas.microsoft.com/office/drawing/2014/main" id="{92424B10-CDA3-05C2-426D-9CECBD35217D}"/>
              </a:ext>
            </a:extLst>
          </p:cNvPr>
          <p:cNvSpPr/>
          <p:nvPr/>
        </p:nvSpPr>
        <p:spPr>
          <a:xfrm>
            <a:off x="274320" y="2619932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Lato"/>
              </a:rPr>
              <a:t>x</a:t>
            </a:r>
            <a:endParaRPr sz="1200" b="1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91" name="Node_2">
            <a:extLst>
              <a:ext uri="{FF2B5EF4-FFF2-40B4-BE49-F238E27FC236}">
                <a16:creationId xmlns:a16="http://schemas.microsoft.com/office/drawing/2014/main" id="{24F92212-3482-B85B-01F8-D9686E3D6C50}"/>
              </a:ext>
            </a:extLst>
          </p:cNvPr>
          <p:cNvSpPr/>
          <p:nvPr/>
        </p:nvSpPr>
        <p:spPr>
          <a:xfrm>
            <a:off x="274320" y="192155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Lato"/>
              </a:rPr>
              <a:t>x</a:t>
            </a:r>
            <a:endParaRPr sz="1200" b="1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92" name="TB">
            <a:extLst>
              <a:ext uri="{FF2B5EF4-FFF2-40B4-BE49-F238E27FC236}">
                <a16:creationId xmlns:a16="http://schemas.microsoft.com/office/drawing/2014/main" id="{837BD404-4F2C-02DE-A5C6-D41E50A8A994}"/>
              </a:ext>
            </a:extLst>
          </p:cNvPr>
          <p:cNvSpPr txBox="1"/>
          <p:nvPr/>
        </p:nvSpPr>
        <p:spPr>
          <a:xfrm>
            <a:off x="889796" y="2051290"/>
            <a:ext cx="8983135" cy="29973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57150">
              <a:lnSpc>
                <a:spcPct val="110000"/>
              </a:lnSpc>
              <a:spcBef>
                <a:spcPts val="300"/>
              </a:spcBef>
              <a:buClr>
                <a:srgbClr val="3333B2"/>
              </a:buClr>
              <a:buSzPct val="78000"/>
            </a:pP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This denotes an inactive and unused node</a:t>
            </a:r>
          </a:p>
        </p:txBody>
      </p:sp>
      <p:sp>
        <p:nvSpPr>
          <p:cNvPr id="94" name="TB">
            <a:extLst>
              <a:ext uri="{FF2B5EF4-FFF2-40B4-BE49-F238E27FC236}">
                <a16:creationId xmlns:a16="http://schemas.microsoft.com/office/drawing/2014/main" id="{61B5FDB3-7879-49F6-2F37-883DD25AEA8B}"/>
              </a:ext>
            </a:extLst>
          </p:cNvPr>
          <p:cNvSpPr txBox="1"/>
          <p:nvPr/>
        </p:nvSpPr>
        <p:spPr>
          <a:xfrm>
            <a:off x="889797" y="2750480"/>
            <a:ext cx="5942804" cy="29973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57150">
              <a:lnSpc>
                <a:spcPct val="110000"/>
              </a:lnSpc>
              <a:spcBef>
                <a:spcPts val="300"/>
              </a:spcBef>
              <a:buClr>
                <a:srgbClr val="3333B2"/>
              </a:buClr>
              <a:buSzPct val="78000"/>
            </a:pP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This denotes an active but unused node</a:t>
            </a:r>
          </a:p>
        </p:txBody>
      </p:sp>
      <p:sp>
        <p:nvSpPr>
          <p:cNvPr id="95" name="TB">
            <a:extLst>
              <a:ext uri="{FF2B5EF4-FFF2-40B4-BE49-F238E27FC236}">
                <a16:creationId xmlns:a16="http://schemas.microsoft.com/office/drawing/2014/main" id="{C6795095-71B8-91C2-679E-2D675FF7C032}"/>
              </a:ext>
            </a:extLst>
          </p:cNvPr>
          <p:cNvSpPr txBox="1"/>
          <p:nvPr/>
        </p:nvSpPr>
        <p:spPr>
          <a:xfrm>
            <a:off x="889797" y="3444848"/>
            <a:ext cx="5942804" cy="29973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57150">
              <a:lnSpc>
                <a:spcPct val="110000"/>
              </a:lnSpc>
              <a:spcBef>
                <a:spcPts val="300"/>
              </a:spcBef>
              <a:buClr>
                <a:srgbClr val="3333B2"/>
              </a:buClr>
              <a:buSzPct val="78000"/>
            </a:pP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This denotes an active and used node</a:t>
            </a:r>
          </a:p>
        </p:txBody>
      </p:sp>
      <p:sp>
        <p:nvSpPr>
          <p:cNvPr id="96" name="Node_1">
            <a:extLst>
              <a:ext uri="{FF2B5EF4-FFF2-40B4-BE49-F238E27FC236}">
                <a16:creationId xmlns:a16="http://schemas.microsoft.com/office/drawing/2014/main" id="{0278C5A3-2F1C-4BA7-CCBF-7ACC659AA710}"/>
              </a:ext>
            </a:extLst>
          </p:cNvPr>
          <p:cNvSpPr/>
          <p:nvPr/>
        </p:nvSpPr>
        <p:spPr>
          <a:xfrm>
            <a:off x="3671200" y="4956147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97" name="Node_2">
            <a:extLst>
              <a:ext uri="{FF2B5EF4-FFF2-40B4-BE49-F238E27FC236}">
                <a16:creationId xmlns:a16="http://schemas.microsoft.com/office/drawing/2014/main" id="{1DA299DE-C778-B242-0207-4024D9466FEF}"/>
              </a:ext>
            </a:extLst>
          </p:cNvPr>
          <p:cNvSpPr/>
          <p:nvPr/>
        </p:nvSpPr>
        <p:spPr>
          <a:xfrm>
            <a:off x="1399599" y="4088402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98" name="Node_3">
            <a:extLst>
              <a:ext uri="{FF2B5EF4-FFF2-40B4-BE49-F238E27FC236}">
                <a16:creationId xmlns:a16="http://schemas.microsoft.com/office/drawing/2014/main" id="{5234CBE2-17B1-F28D-13CC-F38D758F4E31}"/>
              </a:ext>
            </a:extLst>
          </p:cNvPr>
          <p:cNvSpPr/>
          <p:nvPr/>
        </p:nvSpPr>
        <p:spPr>
          <a:xfrm>
            <a:off x="3073721" y="5966258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99" name="Node_4">
            <a:extLst>
              <a:ext uri="{FF2B5EF4-FFF2-40B4-BE49-F238E27FC236}">
                <a16:creationId xmlns:a16="http://schemas.microsoft.com/office/drawing/2014/main" id="{8418612C-AC55-7C1B-E2A1-36A47DB24CCF}"/>
              </a:ext>
            </a:extLst>
          </p:cNvPr>
          <p:cNvSpPr/>
          <p:nvPr/>
        </p:nvSpPr>
        <p:spPr>
          <a:xfrm>
            <a:off x="1235613" y="5966258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100" name="Node_5">
            <a:extLst>
              <a:ext uri="{FF2B5EF4-FFF2-40B4-BE49-F238E27FC236}">
                <a16:creationId xmlns:a16="http://schemas.microsoft.com/office/drawing/2014/main" id="{BE21C63D-CBAD-0FB0-0AD0-620520669227}"/>
              </a:ext>
            </a:extLst>
          </p:cNvPr>
          <p:cNvSpPr/>
          <p:nvPr/>
        </p:nvSpPr>
        <p:spPr>
          <a:xfrm>
            <a:off x="220465" y="4774202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101" name="Node_6">
            <a:extLst>
              <a:ext uri="{FF2B5EF4-FFF2-40B4-BE49-F238E27FC236}">
                <a16:creationId xmlns:a16="http://schemas.microsoft.com/office/drawing/2014/main" id="{7645A4B3-9527-AC7E-E01D-6160B00E6A48}"/>
              </a:ext>
            </a:extLst>
          </p:cNvPr>
          <p:cNvSpPr/>
          <p:nvPr/>
        </p:nvSpPr>
        <p:spPr>
          <a:xfrm>
            <a:off x="3127372" y="3998636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6</a:t>
            </a:r>
          </a:p>
        </p:txBody>
      </p:sp>
      <p:sp>
        <p:nvSpPr>
          <p:cNvPr id="102" name="Node_7">
            <a:extLst>
              <a:ext uri="{FF2B5EF4-FFF2-40B4-BE49-F238E27FC236}">
                <a16:creationId xmlns:a16="http://schemas.microsoft.com/office/drawing/2014/main" id="{B12D8F9E-2B85-8E9A-2C0C-625C083200B3}"/>
              </a:ext>
            </a:extLst>
          </p:cNvPr>
          <p:cNvSpPr/>
          <p:nvPr/>
        </p:nvSpPr>
        <p:spPr>
          <a:xfrm>
            <a:off x="4925867" y="4865174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7</a:t>
            </a:r>
          </a:p>
        </p:txBody>
      </p:sp>
      <p:cxnSp>
        <p:nvCxnSpPr>
          <p:cNvPr id="103" name="Connector 11">
            <a:extLst>
              <a:ext uri="{FF2B5EF4-FFF2-40B4-BE49-F238E27FC236}">
                <a16:creationId xmlns:a16="http://schemas.microsoft.com/office/drawing/2014/main" id="{FD1997FF-E643-3EBC-0849-971784473307}"/>
              </a:ext>
            </a:extLst>
          </p:cNvPr>
          <p:cNvCxnSpPr>
            <a:cxnSpLocks/>
            <a:stCxn id="96" idx="1"/>
            <a:endCxn id="97" idx="5"/>
          </p:cNvCxnSpPr>
          <p:nvPr/>
        </p:nvCxnSpPr>
        <p:spPr>
          <a:xfrm flipH="1" flipV="1">
            <a:off x="1867893" y="4556696"/>
            <a:ext cx="1883653" cy="479797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2">
            <a:extLst>
              <a:ext uri="{FF2B5EF4-FFF2-40B4-BE49-F238E27FC236}">
                <a16:creationId xmlns:a16="http://schemas.microsoft.com/office/drawing/2014/main" id="{3222ED26-67F8-2F86-4500-795CFCDE28FC}"/>
              </a:ext>
            </a:extLst>
          </p:cNvPr>
          <p:cNvCxnSpPr>
            <a:cxnSpLocks/>
            <a:stCxn id="96" idx="4"/>
            <a:endCxn id="98" idx="0"/>
          </p:cNvCxnSpPr>
          <p:nvPr/>
        </p:nvCxnSpPr>
        <p:spPr>
          <a:xfrm flipH="1">
            <a:off x="3348041" y="5504787"/>
            <a:ext cx="597479" cy="461471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3">
            <a:extLst>
              <a:ext uri="{FF2B5EF4-FFF2-40B4-BE49-F238E27FC236}">
                <a16:creationId xmlns:a16="http://schemas.microsoft.com/office/drawing/2014/main" id="{D249AE0C-27C3-5D2C-87DA-14E7C2879053}"/>
              </a:ext>
            </a:extLst>
          </p:cNvPr>
          <p:cNvCxnSpPr>
            <a:cxnSpLocks/>
            <a:stCxn id="96" idx="2"/>
            <a:endCxn id="100" idx="6"/>
          </p:cNvCxnSpPr>
          <p:nvPr/>
        </p:nvCxnSpPr>
        <p:spPr>
          <a:xfrm flipH="1" flipV="1">
            <a:off x="769105" y="5048522"/>
            <a:ext cx="2902095" cy="181945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4">
            <a:extLst>
              <a:ext uri="{FF2B5EF4-FFF2-40B4-BE49-F238E27FC236}">
                <a16:creationId xmlns:a16="http://schemas.microsoft.com/office/drawing/2014/main" id="{476F5CA3-D48C-CF89-62F5-F7825DF99846}"/>
              </a:ext>
            </a:extLst>
          </p:cNvPr>
          <p:cNvCxnSpPr>
            <a:cxnSpLocks/>
            <a:stCxn id="97" idx="4"/>
            <a:endCxn id="99" idx="0"/>
          </p:cNvCxnSpPr>
          <p:nvPr/>
        </p:nvCxnSpPr>
        <p:spPr>
          <a:xfrm flipH="1">
            <a:off x="1509933" y="4637042"/>
            <a:ext cx="163986" cy="132921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5">
            <a:extLst>
              <a:ext uri="{FF2B5EF4-FFF2-40B4-BE49-F238E27FC236}">
                <a16:creationId xmlns:a16="http://schemas.microsoft.com/office/drawing/2014/main" id="{8CC80533-5495-60C4-D13C-B206501B9874}"/>
              </a:ext>
            </a:extLst>
          </p:cNvPr>
          <p:cNvCxnSpPr>
            <a:cxnSpLocks/>
            <a:stCxn id="97" idx="6"/>
            <a:endCxn id="101" idx="2"/>
          </p:cNvCxnSpPr>
          <p:nvPr/>
        </p:nvCxnSpPr>
        <p:spPr>
          <a:xfrm flipV="1">
            <a:off x="1948239" y="4272956"/>
            <a:ext cx="1179133" cy="8976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6">
            <a:extLst>
              <a:ext uri="{FF2B5EF4-FFF2-40B4-BE49-F238E27FC236}">
                <a16:creationId xmlns:a16="http://schemas.microsoft.com/office/drawing/2014/main" id="{3603E6DB-16C5-EB55-57FF-9BA2C3AFA9E5}"/>
              </a:ext>
            </a:extLst>
          </p:cNvPr>
          <p:cNvCxnSpPr>
            <a:cxnSpLocks/>
            <a:stCxn id="98" idx="2"/>
            <a:endCxn id="99" idx="6"/>
          </p:cNvCxnSpPr>
          <p:nvPr/>
        </p:nvCxnSpPr>
        <p:spPr>
          <a:xfrm flipH="1">
            <a:off x="1784253" y="6240578"/>
            <a:ext cx="1289468" cy="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7">
            <a:extLst>
              <a:ext uri="{FF2B5EF4-FFF2-40B4-BE49-F238E27FC236}">
                <a16:creationId xmlns:a16="http://schemas.microsoft.com/office/drawing/2014/main" id="{C04432A7-9DF0-DFAE-F3B9-5F84916E8B7F}"/>
              </a:ext>
            </a:extLst>
          </p:cNvPr>
          <p:cNvCxnSpPr>
            <a:cxnSpLocks/>
            <a:stCxn id="98" idx="0"/>
            <a:endCxn id="102" idx="3"/>
          </p:cNvCxnSpPr>
          <p:nvPr/>
        </p:nvCxnSpPr>
        <p:spPr>
          <a:xfrm flipV="1">
            <a:off x="3348041" y="5333468"/>
            <a:ext cx="1658172" cy="63279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8">
            <a:extLst>
              <a:ext uri="{FF2B5EF4-FFF2-40B4-BE49-F238E27FC236}">
                <a16:creationId xmlns:a16="http://schemas.microsoft.com/office/drawing/2014/main" id="{91FFF804-7C9B-50BB-F6F5-DBEC8E55A664}"/>
              </a:ext>
            </a:extLst>
          </p:cNvPr>
          <p:cNvCxnSpPr>
            <a:cxnSpLocks/>
            <a:stCxn id="99" idx="2"/>
            <a:endCxn id="100" idx="4"/>
          </p:cNvCxnSpPr>
          <p:nvPr/>
        </p:nvCxnSpPr>
        <p:spPr>
          <a:xfrm flipH="1" flipV="1">
            <a:off x="494785" y="5322842"/>
            <a:ext cx="740828" cy="91773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9">
            <a:extLst>
              <a:ext uri="{FF2B5EF4-FFF2-40B4-BE49-F238E27FC236}">
                <a16:creationId xmlns:a16="http://schemas.microsoft.com/office/drawing/2014/main" id="{C5B0BA69-88D1-5E25-5386-3E5BFC5DD078}"/>
              </a:ext>
            </a:extLst>
          </p:cNvPr>
          <p:cNvCxnSpPr>
            <a:cxnSpLocks/>
            <a:stCxn id="100" idx="7"/>
            <a:endCxn id="101" idx="3"/>
          </p:cNvCxnSpPr>
          <p:nvPr/>
        </p:nvCxnSpPr>
        <p:spPr>
          <a:xfrm flipV="1">
            <a:off x="688759" y="4466930"/>
            <a:ext cx="2518959" cy="38761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20">
            <a:extLst>
              <a:ext uri="{FF2B5EF4-FFF2-40B4-BE49-F238E27FC236}">
                <a16:creationId xmlns:a16="http://schemas.microsoft.com/office/drawing/2014/main" id="{3146C984-8990-884C-3830-CF96FAC0281C}"/>
              </a:ext>
            </a:extLst>
          </p:cNvPr>
          <p:cNvCxnSpPr>
            <a:cxnSpLocks/>
            <a:stCxn id="101" idx="6"/>
            <a:endCxn id="102" idx="2"/>
          </p:cNvCxnSpPr>
          <p:nvPr/>
        </p:nvCxnSpPr>
        <p:spPr>
          <a:xfrm>
            <a:off x="3676012" y="4272956"/>
            <a:ext cx="1249855" cy="86653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3" name="Table 112">
                <a:extLst>
                  <a:ext uri="{FF2B5EF4-FFF2-40B4-BE49-F238E27FC236}">
                    <a16:creationId xmlns:a16="http://schemas.microsoft.com/office/drawing/2014/main" id="{2FA779A5-437C-BD25-7BD6-39A972B7F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5688954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3" name="Table 112">
                <a:extLst>
                  <a:ext uri="{FF2B5EF4-FFF2-40B4-BE49-F238E27FC236}">
                    <a16:creationId xmlns:a16="http://schemas.microsoft.com/office/drawing/2014/main" id="{2FA779A5-437C-BD25-7BD6-39A972B7F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5688954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103125" r="-331250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103125" r="-178947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103125" r="-3922" b="-6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209677" r="-331250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209677" r="-178947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209677" r="-3922" b="-538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300000" r="-331250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300000" r="-178947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300000" r="-3922" b="-4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412903" r="-331250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412903" r="-178947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412903" r="-3922" b="-3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512903" r="-331250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512903" r="-178947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512903" r="-3922" b="-2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593750" r="-331250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593750" r="-178947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593750" r="-3922" b="-1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63" t="-716129" r="-331250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526" t="-716129" r="-178947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9216" t="-716129" r="-3922" b="-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E9E36A9E-D880-839B-6233-4AD4049865EA}"/>
              </a:ext>
            </a:extLst>
          </p:cNvPr>
          <p:cNvSpPr txBox="1"/>
          <p:nvPr/>
        </p:nvSpPr>
        <p:spPr>
          <a:xfrm>
            <a:off x="7026113" y="3318314"/>
            <a:ext cx="2117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ato"/>
                <a:ea typeface="Lato"/>
                <a:cs typeface="Lato"/>
              </a:rPr>
              <a:t>Note that Gen denotes generation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531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5760-A269-E1F7-EB01-58EA414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398273F2-7506-1C35-F1B8-3333FA8747EB}"/>
              </a:ext>
            </a:extLst>
          </p:cNvPr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202506-BCE4-7388-2BFB-63E23940D3E1}"/>
              </a:ext>
            </a:extLst>
          </p:cNvPr>
          <p:cNvSpPr txBox="1"/>
          <p:nvPr/>
        </p:nvSpPr>
        <p:spPr>
          <a:xfrm>
            <a:off x="548640" y="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endParaRPr dirty="0"/>
          </a:p>
          <a:p>
            <a:pPr algn="l"/>
            <a:r>
              <a:rPr lang="en-US" sz="2200" dirty="0">
                <a:solidFill>
                  <a:srgbClr val="FFFFFF"/>
                </a:solidFill>
                <a:latin typeface="Lato"/>
              </a:rPr>
              <a:t>Example</a:t>
            </a:r>
            <a:endParaRPr sz="2200" dirty="0">
              <a:solidFill>
                <a:srgbClr val="FFFFFF"/>
              </a:solidFill>
              <a:latin typeface="Lat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E65651F-D618-E163-7E70-DFB773A06D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5581344"/>
                  </p:ext>
                </p:extLst>
              </p:nvPr>
            </p:nvGraphicFramePr>
            <p:xfrm>
              <a:off x="80432" y="896753"/>
              <a:ext cx="8983136" cy="8217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d>
                                  <m:dPr>
                                    <m:ctrlP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1,4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E65651F-D618-E163-7E70-DFB773A06D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5581344"/>
                  </p:ext>
                </p:extLst>
              </p:nvPr>
            </p:nvGraphicFramePr>
            <p:xfrm>
              <a:off x="80432" y="896753"/>
              <a:ext cx="8983136" cy="8217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425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2941" r="-3127273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2941" r="-700000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2941" r="-600000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2941" r="-507059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2941" r="-401163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2941" r="-301163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2941" r="-201163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2941" r="-103529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2941" r="-2326" b="-1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109375" r="-3127273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109375" r="-700000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109375" r="-600000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109375" r="-507059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109375" r="-401163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109375" r="-301163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109375" r="-201163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109375" r="-103529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109375" r="-2326" b="-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Node_1">
            <a:extLst>
              <a:ext uri="{FF2B5EF4-FFF2-40B4-BE49-F238E27FC236}">
                <a16:creationId xmlns:a16="http://schemas.microsoft.com/office/drawing/2014/main" id="{669994C2-3708-4445-851B-C91909D9B224}"/>
              </a:ext>
            </a:extLst>
          </p:cNvPr>
          <p:cNvSpPr/>
          <p:nvPr/>
        </p:nvSpPr>
        <p:spPr>
          <a:xfrm>
            <a:off x="3671200" y="4956147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10" name="Node_2">
            <a:extLst>
              <a:ext uri="{FF2B5EF4-FFF2-40B4-BE49-F238E27FC236}">
                <a16:creationId xmlns:a16="http://schemas.microsoft.com/office/drawing/2014/main" id="{480E6950-6E1E-A611-AFA6-73F62EBAC86A}"/>
              </a:ext>
            </a:extLst>
          </p:cNvPr>
          <p:cNvSpPr/>
          <p:nvPr/>
        </p:nvSpPr>
        <p:spPr>
          <a:xfrm>
            <a:off x="1399599" y="4088402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Node_3">
            <a:extLst>
              <a:ext uri="{FF2B5EF4-FFF2-40B4-BE49-F238E27FC236}">
                <a16:creationId xmlns:a16="http://schemas.microsoft.com/office/drawing/2014/main" id="{3742B534-B30F-3F4A-00D0-7A0DED80C6DB}"/>
              </a:ext>
            </a:extLst>
          </p:cNvPr>
          <p:cNvSpPr/>
          <p:nvPr/>
        </p:nvSpPr>
        <p:spPr>
          <a:xfrm>
            <a:off x="3073721" y="5966258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2" name="Node_4">
            <a:extLst>
              <a:ext uri="{FF2B5EF4-FFF2-40B4-BE49-F238E27FC236}">
                <a16:creationId xmlns:a16="http://schemas.microsoft.com/office/drawing/2014/main" id="{4122E4B9-1BE8-969A-67BB-C7A3D61C91C9}"/>
              </a:ext>
            </a:extLst>
          </p:cNvPr>
          <p:cNvSpPr/>
          <p:nvPr/>
        </p:nvSpPr>
        <p:spPr>
          <a:xfrm>
            <a:off x="1235613" y="5966258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26" name="Node_5">
            <a:extLst>
              <a:ext uri="{FF2B5EF4-FFF2-40B4-BE49-F238E27FC236}">
                <a16:creationId xmlns:a16="http://schemas.microsoft.com/office/drawing/2014/main" id="{B84DC06A-2D25-6A84-1DC9-B0128C78FEAE}"/>
              </a:ext>
            </a:extLst>
          </p:cNvPr>
          <p:cNvSpPr/>
          <p:nvPr/>
        </p:nvSpPr>
        <p:spPr>
          <a:xfrm>
            <a:off x="220465" y="4774202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27" name="Node_6">
            <a:extLst>
              <a:ext uri="{FF2B5EF4-FFF2-40B4-BE49-F238E27FC236}">
                <a16:creationId xmlns:a16="http://schemas.microsoft.com/office/drawing/2014/main" id="{9AED5FA7-15CC-A22B-8979-E047DB97AD88}"/>
              </a:ext>
            </a:extLst>
          </p:cNvPr>
          <p:cNvSpPr/>
          <p:nvPr/>
        </p:nvSpPr>
        <p:spPr>
          <a:xfrm>
            <a:off x="3127372" y="3998636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6</a:t>
            </a:r>
          </a:p>
        </p:txBody>
      </p:sp>
      <p:sp>
        <p:nvSpPr>
          <p:cNvPr id="28" name="Node_7">
            <a:extLst>
              <a:ext uri="{FF2B5EF4-FFF2-40B4-BE49-F238E27FC236}">
                <a16:creationId xmlns:a16="http://schemas.microsoft.com/office/drawing/2014/main" id="{6FEC0C6F-86E5-5B84-8107-C36A801FA22A}"/>
              </a:ext>
            </a:extLst>
          </p:cNvPr>
          <p:cNvSpPr/>
          <p:nvPr/>
        </p:nvSpPr>
        <p:spPr>
          <a:xfrm>
            <a:off x="4925867" y="4865174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7</a:t>
            </a:r>
          </a:p>
        </p:txBody>
      </p:sp>
      <p:cxnSp>
        <p:nvCxnSpPr>
          <p:cNvPr id="29" name="Connector 11">
            <a:extLst>
              <a:ext uri="{FF2B5EF4-FFF2-40B4-BE49-F238E27FC236}">
                <a16:creationId xmlns:a16="http://schemas.microsoft.com/office/drawing/2014/main" id="{6C1C946D-FF62-275C-9DA7-34AAE90433D8}"/>
              </a:ext>
            </a:extLst>
          </p:cNvPr>
          <p:cNvCxnSpPr>
            <a:cxnSpLocks/>
            <a:stCxn id="9" idx="1"/>
            <a:endCxn id="10" idx="5"/>
          </p:cNvCxnSpPr>
          <p:nvPr/>
        </p:nvCxnSpPr>
        <p:spPr>
          <a:xfrm flipH="1" flipV="1">
            <a:off x="1867893" y="4556696"/>
            <a:ext cx="1883653" cy="479797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2">
            <a:extLst>
              <a:ext uri="{FF2B5EF4-FFF2-40B4-BE49-F238E27FC236}">
                <a16:creationId xmlns:a16="http://schemas.microsoft.com/office/drawing/2014/main" id="{7565FA2D-D236-E056-1AC0-499192135FE6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 flipH="1">
            <a:off x="3348041" y="5504787"/>
            <a:ext cx="597479" cy="461471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3">
            <a:extLst>
              <a:ext uri="{FF2B5EF4-FFF2-40B4-BE49-F238E27FC236}">
                <a16:creationId xmlns:a16="http://schemas.microsoft.com/office/drawing/2014/main" id="{5126A9C8-CA5F-56F2-1112-5D93F0D9193A}"/>
              </a:ext>
            </a:extLst>
          </p:cNvPr>
          <p:cNvCxnSpPr>
            <a:cxnSpLocks/>
            <a:stCxn id="9" idx="2"/>
            <a:endCxn id="26" idx="6"/>
          </p:cNvCxnSpPr>
          <p:nvPr/>
        </p:nvCxnSpPr>
        <p:spPr>
          <a:xfrm flipH="1" flipV="1">
            <a:off x="769105" y="5048522"/>
            <a:ext cx="2902095" cy="181945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4">
            <a:extLst>
              <a:ext uri="{FF2B5EF4-FFF2-40B4-BE49-F238E27FC236}">
                <a16:creationId xmlns:a16="http://schemas.microsoft.com/office/drawing/2014/main" id="{31B9A2C5-0731-A81A-A2FF-F6EB8B42B15D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flipH="1">
            <a:off x="1509933" y="4637042"/>
            <a:ext cx="163986" cy="132921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5">
            <a:extLst>
              <a:ext uri="{FF2B5EF4-FFF2-40B4-BE49-F238E27FC236}">
                <a16:creationId xmlns:a16="http://schemas.microsoft.com/office/drawing/2014/main" id="{7DF8DD19-3FCB-3B83-8731-A01BDBED4EE9}"/>
              </a:ext>
            </a:extLst>
          </p:cNvPr>
          <p:cNvCxnSpPr>
            <a:cxnSpLocks/>
            <a:stCxn id="10" idx="6"/>
            <a:endCxn id="27" idx="2"/>
          </p:cNvCxnSpPr>
          <p:nvPr/>
        </p:nvCxnSpPr>
        <p:spPr>
          <a:xfrm flipV="1">
            <a:off x="1948239" y="4272956"/>
            <a:ext cx="1179133" cy="8976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6">
            <a:extLst>
              <a:ext uri="{FF2B5EF4-FFF2-40B4-BE49-F238E27FC236}">
                <a16:creationId xmlns:a16="http://schemas.microsoft.com/office/drawing/2014/main" id="{38BEA726-4680-814E-F309-BD6867AC3636}"/>
              </a:ext>
            </a:extLst>
          </p:cNvPr>
          <p:cNvCxnSpPr>
            <a:cxnSpLocks/>
            <a:stCxn id="11" idx="2"/>
            <a:endCxn id="12" idx="6"/>
          </p:cNvCxnSpPr>
          <p:nvPr/>
        </p:nvCxnSpPr>
        <p:spPr>
          <a:xfrm flipH="1">
            <a:off x="1784253" y="6240578"/>
            <a:ext cx="1289468" cy="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7">
            <a:extLst>
              <a:ext uri="{FF2B5EF4-FFF2-40B4-BE49-F238E27FC236}">
                <a16:creationId xmlns:a16="http://schemas.microsoft.com/office/drawing/2014/main" id="{B3F30017-C648-7CE6-2A7F-A7D66674EECB}"/>
              </a:ext>
            </a:extLst>
          </p:cNvPr>
          <p:cNvCxnSpPr>
            <a:cxnSpLocks/>
            <a:stCxn id="11" idx="0"/>
            <a:endCxn id="28" idx="3"/>
          </p:cNvCxnSpPr>
          <p:nvPr/>
        </p:nvCxnSpPr>
        <p:spPr>
          <a:xfrm flipV="1">
            <a:off x="3348041" y="5333468"/>
            <a:ext cx="1658172" cy="63279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8">
            <a:extLst>
              <a:ext uri="{FF2B5EF4-FFF2-40B4-BE49-F238E27FC236}">
                <a16:creationId xmlns:a16="http://schemas.microsoft.com/office/drawing/2014/main" id="{96B6B877-9F05-37A4-867F-B517229E57EC}"/>
              </a:ext>
            </a:extLst>
          </p:cNvPr>
          <p:cNvCxnSpPr>
            <a:cxnSpLocks/>
            <a:stCxn id="12" idx="2"/>
            <a:endCxn id="26" idx="4"/>
          </p:cNvCxnSpPr>
          <p:nvPr/>
        </p:nvCxnSpPr>
        <p:spPr>
          <a:xfrm flipH="1" flipV="1">
            <a:off x="494785" y="5322842"/>
            <a:ext cx="740828" cy="91773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9">
            <a:extLst>
              <a:ext uri="{FF2B5EF4-FFF2-40B4-BE49-F238E27FC236}">
                <a16:creationId xmlns:a16="http://schemas.microsoft.com/office/drawing/2014/main" id="{92A07BAF-8FD5-7CC9-E6F1-A662A475135E}"/>
              </a:ext>
            </a:extLst>
          </p:cNvPr>
          <p:cNvCxnSpPr>
            <a:cxnSpLocks/>
            <a:stCxn id="26" idx="7"/>
            <a:endCxn id="27" idx="3"/>
          </p:cNvCxnSpPr>
          <p:nvPr/>
        </p:nvCxnSpPr>
        <p:spPr>
          <a:xfrm flipV="1">
            <a:off x="688759" y="4466930"/>
            <a:ext cx="2518959" cy="38761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0">
            <a:extLst>
              <a:ext uri="{FF2B5EF4-FFF2-40B4-BE49-F238E27FC236}">
                <a16:creationId xmlns:a16="http://schemas.microsoft.com/office/drawing/2014/main" id="{09CB5C10-15B2-F760-504A-F2BE51947B5C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3676012" y="4272956"/>
            <a:ext cx="1249855" cy="86653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32BA9137-587C-1396-D79C-11EFA7CF20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1634934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32BA9137-587C-1396-D79C-11EFA7CF20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1634934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103125" r="-331250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103125" r="-178947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103125" r="-3922" b="-6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209677" r="-331250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209677" r="-178947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209677" r="-3922" b="-538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300000" r="-331250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300000" r="-178947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300000" r="-3922" b="-4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412903" r="-331250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412903" r="-178947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412903" r="-3922" b="-3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512903" r="-331250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512903" r="-178947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512903" r="-3922" b="-2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593750" r="-331250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593750" r="-178947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593750" r="-3922" b="-1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716129" r="-331250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716129" r="-178947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716129" r="-3922" b="-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2465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9FBD-FB1C-5522-2317-D1AB2734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D0BEB990-A5A0-C027-E245-27C9DD09BD99}"/>
              </a:ext>
            </a:extLst>
          </p:cNvPr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642E057-E593-E238-F97E-FE7A1874364F}"/>
              </a:ext>
            </a:extLst>
          </p:cNvPr>
          <p:cNvSpPr txBox="1"/>
          <p:nvPr/>
        </p:nvSpPr>
        <p:spPr>
          <a:xfrm>
            <a:off x="548640" y="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endParaRPr dirty="0"/>
          </a:p>
          <a:p>
            <a:pPr algn="l"/>
            <a:r>
              <a:rPr lang="en-US" sz="2200" dirty="0">
                <a:solidFill>
                  <a:srgbClr val="FFFFFF"/>
                </a:solidFill>
                <a:latin typeface="Lato"/>
              </a:rPr>
              <a:t>Example</a:t>
            </a:r>
            <a:endParaRPr sz="2200" dirty="0">
              <a:solidFill>
                <a:srgbClr val="FFFFFF"/>
              </a:solidFill>
              <a:latin typeface="Lat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5A6B5AE-0E93-3C80-8E70-A6607ECD8E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4619719"/>
                  </p:ext>
                </p:extLst>
              </p:nvPr>
            </p:nvGraphicFramePr>
            <p:xfrm>
              <a:off x="80432" y="896753"/>
              <a:ext cx="8983136" cy="12179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d>
                                  <m:dPr>
                                    <m:ctrlP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1,4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2</a:t>
                          </a:r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, 4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1,4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2, 3, 5</m:t>
                                </m:r>
                                <m:r>
                                  <m:rPr>
                                    <m:lit/>
                                  </m:rP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45751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5A6B5AE-0E93-3C80-8E70-A6607ECD8E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4619719"/>
                  </p:ext>
                </p:extLst>
              </p:nvPr>
            </p:nvGraphicFramePr>
            <p:xfrm>
              <a:off x="80432" y="896753"/>
              <a:ext cx="8983136" cy="12179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425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2941" r="-3127273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2941" r="-700000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2941" r="-600000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2941" r="-507059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2941" r="-401163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2941" r="-301163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2941" r="-201163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2941" r="-103529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2941" r="-2326" b="-2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112903" r="-3127273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112903" r="-700000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112903" r="-600000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112903" r="-507059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112903" r="-401163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112903" r="-301163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112903" r="-201163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112903" r="-103529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112903" r="-2326" b="-1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2</a:t>
                          </a:r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206250" r="-700000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206250" r="-600000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206250" r="-507059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206250" r="-401163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206250" r="-301163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206250" r="-201163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206250" r="-103529" b="-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206250" r="-2326" b="-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45751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Node_1">
            <a:extLst>
              <a:ext uri="{FF2B5EF4-FFF2-40B4-BE49-F238E27FC236}">
                <a16:creationId xmlns:a16="http://schemas.microsoft.com/office/drawing/2014/main" id="{9BF828C1-B351-B443-176D-0AA64A78E04D}"/>
              </a:ext>
            </a:extLst>
          </p:cNvPr>
          <p:cNvSpPr/>
          <p:nvPr/>
        </p:nvSpPr>
        <p:spPr>
          <a:xfrm>
            <a:off x="3671200" y="4956147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10" name="Node_2">
            <a:extLst>
              <a:ext uri="{FF2B5EF4-FFF2-40B4-BE49-F238E27FC236}">
                <a16:creationId xmlns:a16="http://schemas.microsoft.com/office/drawing/2014/main" id="{4D2C9768-258F-E037-3EEB-EAC8527A403D}"/>
              </a:ext>
            </a:extLst>
          </p:cNvPr>
          <p:cNvSpPr/>
          <p:nvPr/>
        </p:nvSpPr>
        <p:spPr>
          <a:xfrm>
            <a:off x="1399599" y="4088402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Node_3">
            <a:extLst>
              <a:ext uri="{FF2B5EF4-FFF2-40B4-BE49-F238E27FC236}">
                <a16:creationId xmlns:a16="http://schemas.microsoft.com/office/drawing/2014/main" id="{FF82D949-A593-23AF-2910-AE5CD2AA3E10}"/>
              </a:ext>
            </a:extLst>
          </p:cNvPr>
          <p:cNvSpPr/>
          <p:nvPr/>
        </p:nvSpPr>
        <p:spPr>
          <a:xfrm>
            <a:off x="3073721" y="5966258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2" name="Node_4">
            <a:extLst>
              <a:ext uri="{FF2B5EF4-FFF2-40B4-BE49-F238E27FC236}">
                <a16:creationId xmlns:a16="http://schemas.microsoft.com/office/drawing/2014/main" id="{CC6E54AC-15C6-3083-87DF-D71DC76B3CEB}"/>
              </a:ext>
            </a:extLst>
          </p:cNvPr>
          <p:cNvSpPr/>
          <p:nvPr/>
        </p:nvSpPr>
        <p:spPr>
          <a:xfrm>
            <a:off x="1235613" y="5966258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26" name="Node_5">
            <a:extLst>
              <a:ext uri="{FF2B5EF4-FFF2-40B4-BE49-F238E27FC236}">
                <a16:creationId xmlns:a16="http://schemas.microsoft.com/office/drawing/2014/main" id="{CC95AA6C-EE86-EFDB-340F-BB8C86784BB0}"/>
              </a:ext>
            </a:extLst>
          </p:cNvPr>
          <p:cNvSpPr/>
          <p:nvPr/>
        </p:nvSpPr>
        <p:spPr>
          <a:xfrm>
            <a:off x="220465" y="4774202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27" name="Node_6">
            <a:extLst>
              <a:ext uri="{FF2B5EF4-FFF2-40B4-BE49-F238E27FC236}">
                <a16:creationId xmlns:a16="http://schemas.microsoft.com/office/drawing/2014/main" id="{DC0D452F-CB9A-F4D9-EBCF-EE96B6C40E17}"/>
              </a:ext>
            </a:extLst>
          </p:cNvPr>
          <p:cNvSpPr/>
          <p:nvPr/>
        </p:nvSpPr>
        <p:spPr>
          <a:xfrm>
            <a:off x="3127372" y="3998636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6</a:t>
            </a:r>
          </a:p>
        </p:txBody>
      </p:sp>
      <p:sp>
        <p:nvSpPr>
          <p:cNvPr id="28" name="Node_7">
            <a:extLst>
              <a:ext uri="{FF2B5EF4-FFF2-40B4-BE49-F238E27FC236}">
                <a16:creationId xmlns:a16="http://schemas.microsoft.com/office/drawing/2014/main" id="{0C87C221-3461-8D4A-61CE-7A4BCB6FAC1B}"/>
              </a:ext>
            </a:extLst>
          </p:cNvPr>
          <p:cNvSpPr/>
          <p:nvPr/>
        </p:nvSpPr>
        <p:spPr>
          <a:xfrm>
            <a:off x="4925867" y="4865174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7</a:t>
            </a:r>
          </a:p>
        </p:txBody>
      </p:sp>
      <p:cxnSp>
        <p:nvCxnSpPr>
          <p:cNvPr id="29" name="Connector 11">
            <a:extLst>
              <a:ext uri="{FF2B5EF4-FFF2-40B4-BE49-F238E27FC236}">
                <a16:creationId xmlns:a16="http://schemas.microsoft.com/office/drawing/2014/main" id="{05FA3789-DA0C-A627-2C37-6B99BADCD330}"/>
              </a:ext>
            </a:extLst>
          </p:cNvPr>
          <p:cNvCxnSpPr>
            <a:cxnSpLocks/>
            <a:stCxn id="9" idx="1"/>
            <a:endCxn id="10" idx="5"/>
          </p:cNvCxnSpPr>
          <p:nvPr/>
        </p:nvCxnSpPr>
        <p:spPr>
          <a:xfrm flipH="1" flipV="1">
            <a:off x="1867893" y="4556696"/>
            <a:ext cx="1883653" cy="479797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2">
            <a:extLst>
              <a:ext uri="{FF2B5EF4-FFF2-40B4-BE49-F238E27FC236}">
                <a16:creationId xmlns:a16="http://schemas.microsoft.com/office/drawing/2014/main" id="{22317841-0BA0-1C76-B509-FACFAC9D7EDE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 flipH="1">
            <a:off x="3348041" y="5504787"/>
            <a:ext cx="597479" cy="461471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3">
            <a:extLst>
              <a:ext uri="{FF2B5EF4-FFF2-40B4-BE49-F238E27FC236}">
                <a16:creationId xmlns:a16="http://schemas.microsoft.com/office/drawing/2014/main" id="{C3089F13-1C2F-B595-895E-656BCBDBFAF8}"/>
              </a:ext>
            </a:extLst>
          </p:cNvPr>
          <p:cNvCxnSpPr>
            <a:cxnSpLocks/>
            <a:stCxn id="9" idx="2"/>
            <a:endCxn id="26" idx="6"/>
          </p:cNvCxnSpPr>
          <p:nvPr/>
        </p:nvCxnSpPr>
        <p:spPr>
          <a:xfrm flipH="1" flipV="1">
            <a:off x="769105" y="5048522"/>
            <a:ext cx="2902095" cy="181945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4">
            <a:extLst>
              <a:ext uri="{FF2B5EF4-FFF2-40B4-BE49-F238E27FC236}">
                <a16:creationId xmlns:a16="http://schemas.microsoft.com/office/drawing/2014/main" id="{53764F88-5FB6-CCA0-3950-4791C21DEC2E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flipH="1">
            <a:off x="1509933" y="4637042"/>
            <a:ext cx="163986" cy="132921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5">
            <a:extLst>
              <a:ext uri="{FF2B5EF4-FFF2-40B4-BE49-F238E27FC236}">
                <a16:creationId xmlns:a16="http://schemas.microsoft.com/office/drawing/2014/main" id="{5D112A38-ABD1-1D9F-75B8-75792681F50C}"/>
              </a:ext>
            </a:extLst>
          </p:cNvPr>
          <p:cNvCxnSpPr>
            <a:cxnSpLocks/>
            <a:stCxn id="10" idx="6"/>
            <a:endCxn id="27" idx="2"/>
          </p:cNvCxnSpPr>
          <p:nvPr/>
        </p:nvCxnSpPr>
        <p:spPr>
          <a:xfrm flipV="1">
            <a:off x="1948239" y="4272956"/>
            <a:ext cx="1179133" cy="8976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6">
            <a:extLst>
              <a:ext uri="{FF2B5EF4-FFF2-40B4-BE49-F238E27FC236}">
                <a16:creationId xmlns:a16="http://schemas.microsoft.com/office/drawing/2014/main" id="{47205BFB-D85D-7B2A-6F2A-2359C19CE873}"/>
              </a:ext>
            </a:extLst>
          </p:cNvPr>
          <p:cNvCxnSpPr>
            <a:cxnSpLocks/>
            <a:stCxn id="11" idx="2"/>
            <a:endCxn id="12" idx="6"/>
          </p:cNvCxnSpPr>
          <p:nvPr/>
        </p:nvCxnSpPr>
        <p:spPr>
          <a:xfrm flipH="1">
            <a:off x="1784253" y="6240578"/>
            <a:ext cx="1289468" cy="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7">
            <a:extLst>
              <a:ext uri="{FF2B5EF4-FFF2-40B4-BE49-F238E27FC236}">
                <a16:creationId xmlns:a16="http://schemas.microsoft.com/office/drawing/2014/main" id="{D1CBB3E5-982E-0530-20DB-0916B0450BEF}"/>
              </a:ext>
            </a:extLst>
          </p:cNvPr>
          <p:cNvCxnSpPr>
            <a:cxnSpLocks/>
            <a:stCxn id="11" idx="0"/>
            <a:endCxn id="28" idx="3"/>
          </p:cNvCxnSpPr>
          <p:nvPr/>
        </p:nvCxnSpPr>
        <p:spPr>
          <a:xfrm flipV="1">
            <a:off x="3348041" y="5333468"/>
            <a:ext cx="1658172" cy="63279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8">
            <a:extLst>
              <a:ext uri="{FF2B5EF4-FFF2-40B4-BE49-F238E27FC236}">
                <a16:creationId xmlns:a16="http://schemas.microsoft.com/office/drawing/2014/main" id="{C026AEF2-D17A-370A-2000-FDC7C439E1D2}"/>
              </a:ext>
            </a:extLst>
          </p:cNvPr>
          <p:cNvCxnSpPr>
            <a:cxnSpLocks/>
            <a:stCxn id="12" idx="2"/>
            <a:endCxn id="26" idx="4"/>
          </p:cNvCxnSpPr>
          <p:nvPr/>
        </p:nvCxnSpPr>
        <p:spPr>
          <a:xfrm flipH="1" flipV="1">
            <a:off x="494785" y="5322842"/>
            <a:ext cx="740828" cy="91773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9">
            <a:extLst>
              <a:ext uri="{FF2B5EF4-FFF2-40B4-BE49-F238E27FC236}">
                <a16:creationId xmlns:a16="http://schemas.microsoft.com/office/drawing/2014/main" id="{A890DAC6-1D04-EBED-36AD-EE4383E43A3F}"/>
              </a:ext>
            </a:extLst>
          </p:cNvPr>
          <p:cNvCxnSpPr>
            <a:cxnSpLocks/>
            <a:stCxn id="26" idx="7"/>
            <a:endCxn id="27" idx="3"/>
          </p:cNvCxnSpPr>
          <p:nvPr/>
        </p:nvCxnSpPr>
        <p:spPr>
          <a:xfrm flipV="1">
            <a:off x="688759" y="4466930"/>
            <a:ext cx="2518959" cy="38761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0">
            <a:extLst>
              <a:ext uri="{FF2B5EF4-FFF2-40B4-BE49-F238E27FC236}">
                <a16:creationId xmlns:a16="http://schemas.microsoft.com/office/drawing/2014/main" id="{CE6AE79E-A23E-CE87-7BCB-966FC87FE160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3676012" y="4272956"/>
            <a:ext cx="1249855" cy="86653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1E442891-F10D-D321-B4EB-4C6FE5C92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2238461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1E442891-F10D-D321-B4EB-4C6FE5C92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2238461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103125" r="-331250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103125" r="-178947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103125" r="-3922" b="-6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209677" r="-331250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209677" r="-178947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209677" r="-3922" b="-538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300000" r="-331250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300000" r="-178947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300000" r="-3922" b="-4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412903" r="-331250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412903" r="-178947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412903" r="-3922" b="-3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512903" r="-331250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512903" r="-178947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512903" r="-3922" b="-2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593750" r="-331250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593750" r="-178947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593750" r="-3922" b="-1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716129" r="-331250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716129" r="-178947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b="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716129" r="-3922" b="-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5116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4286-7689-1BE7-B718-51075084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DDD8AA20-B4B2-52AC-53EA-3513643FF7CC}"/>
              </a:ext>
            </a:extLst>
          </p:cNvPr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8BDFDCB-9A3C-863B-54AD-B4A57FE06C3E}"/>
              </a:ext>
            </a:extLst>
          </p:cNvPr>
          <p:cNvSpPr txBox="1"/>
          <p:nvPr/>
        </p:nvSpPr>
        <p:spPr>
          <a:xfrm>
            <a:off x="548640" y="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 algn="l"/>
            <a:r>
              <a:rPr lang="en-US" sz="2200" dirty="0">
                <a:solidFill>
                  <a:srgbClr val="FFFFFF"/>
                </a:solidFill>
                <a:latin typeface="Lato"/>
              </a:rPr>
              <a:t>Now to walk through an example</a:t>
            </a:r>
            <a:endParaRPr sz="2200" dirty="0">
              <a:solidFill>
                <a:srgbClr val="FFFFFF"/>
              </a:solidFill>
              <a:latin typeface="Lat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393A57B-51ED-CAD2-73D7-19225F0EF0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9072601"/>
                  </p:ext>
                </p:extLst>
              </p:nvPr>
            </p:nvGraphicFramePr>
            <p:xfrm>
              <a:off x="80432" y="896753"/>
              <a:ext cx="8983136" cy="2406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d>
                                  <m:dPr>
                                    <m:ctrlP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393A57B-51ED-CAD2-73D7-19225F0EF0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9072601"/>
                  </p:ext>
                </p:extLst>
              </p:nvPr>
            </p:nvGraphicFramePr>
            <p:xfrm>
              <a:off x="80432" y="896753"/>
              <a:ext cx="8983136" cy="2406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9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283720068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66133200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3802532605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4201285969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625759793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492597512"/>
                        </a:ext>
                      </a:extLst>
                    </a:gridCol>
                    <a:gridCol w="1087923">
                      <a:extLst>
                        <a:ext uri="{9D8B030D-6E8A-4147-A177-3AD203B41FA5}">
                          <a16:colId xmlns:a16="http://schemas.microsoft.com/office/drawing/2014/main" val="1974502793"/>
                        </a:ext>
                      </a:extLst>
                    </a:gridCol>
                  </a:tblGrid>
                  <a:tr h="425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2941" r="-3127273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744" t="-2941" r="-700000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744" t="-2941" r="-600000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9412" t="-2941" r="-507059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5581" t="-2941" r="-401163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5581" t="-2941" r="-301163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5581" t="-2941" r="-201163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941" t="-2941" r="-103529" b="-4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419" t="-2941" r="-2326" b="-46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112903" r="-3127273" b="-4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206250" r="-3127273" b="-2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316129" r="-3127273" b="-2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403125" r="-312727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45" t="-519355" r="-3127273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Node_1">
            <a:extLst>
              <a:ext uri="{FF2B5EF4-FFF2-40B4-BE49-F238E27FC236}">
                <a16:creationId xmlns:a16="http://schemas.microsoft.com/office/drawing/2014/main" id="{8964D97B-B351-DEF6-131E-8F0747C927A1}"/>
              </a:ext>
            </a:extLst>
          </p:cNvPr>
          <p:cNvSpPr/>
          <p:nvPr/>
        </p:nvSpPr>
        <p:spPr>
          <a:xfrm>
            <a:off x="3671200" y="4956147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42" name="Node_2">
            <a:extLst>
              <a:ext uri="{FF2B5EF4-FFF2-40B4-BE49-F238E27FC236}">
                <a16:creationId xmlns:a16="http://schemas.microsoft.com/office/drawing/2014/main" id="{781238CB-2C05-573A-B6A6-E8ECBC6F6A7D}"/>
              </a:ext>
            </a:extLst>
          </p:cNvPr>
          <p:cNvSpPr/>
          <p:nvPr/>
        </p:nvSpPr>
        <p:spPr>
          <a:xfrm>
            <a:off x="1399599" y="4088402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43" name="Node_3">
            <a:extLst>
              <a:ext uri="{FF2B5EF4-FFF2-40B4-BE49-F238E27FC236}">
                <a16:creationId xmlns:a16="http://schemas.microsoft.com/office/drawing/2014/main" id="{84E03CEB-6B20-CB57-410F-D09530D61508}"/>
              </a:ext>
            </a:extLst>
          </p:cNvPr>
          <p:cNvSpPr/>
          <p:nvPr/>
        </p:nvSpPr>
        <p:spPr>
          <a:xfrm>
            <a:off x="3073721" y="5966258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44" name="Node_4">
            <a:extLst>
              <a:ext uri="{FF2B5EF4-FFF2-40B4-BE49-F238E27FC236}">
                <a16:creationId xmlns:a16="http://schemas.microsoft.com/office/drawing/2014/main" id="{29FDCF83-D3B6-0D3B-08AD-CB199F2342F6}"/>
              </a:ext>
            </a:extLst>
          </p:cNvPr>
          <p:cNvSpPr/>
          <p:nvPr/>
        </p:nvSpPr>
        <p:spPr>
          <a:xfrm>
            <a:off x="1235613" y="5966258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45" name="Node_5">
            <a:extLst>
              <a:ext uri="{FF2B5EF4-FFF2-40B4-BE49-F238E27FC236}">
                <a16:creationId xmlns:a16="http://schemas.microsoft.com/office/drawing/2014/main" id="{22B48AA1-E60E-1AFE-589A-2CE5B8A4D7DB}"/>
              </a:ext>
            </a:extLst>
          </p:cNvPr>
          <p:cNvSpPr/>
          <p:nvPr/>
        </p:nvSpPr>
        <p:spPr>
          <a:xfrm>
            <a:off x="220465" y="4774202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46" name="Node_6">
            <a:extLst>
              <a:ext uri="{FF2B5EF4-FFF2-40B4-BE49-F238E27FC236}">
                <a16:creationId xmlns:a16="http://schemas.microsoft.com/office/drawing/2014/main" id="{E22415CF-188E-FE5B-3E42-4D029A336AAC}"/>
              </a:ext>
            </a:extLst>
          </p:cNvPr>
          <p:cNvSpPr/>
          <p:nvPr/>
        </p:nvSpPr>
        <p:spPr>
          <a:xfrm>
            <a:off x="3127372" y="3998636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ato"/>
              </a:rPr>
              <a:t>6</a:t>
            </a:r>
          </a:p>
        </p:txBody>
      </p:sp>
      <p:sp>
        <p:nvSpPr>
          <p:cNvPr id="47" name="Node_7">
            <a:extLst>
              <a:ext uri="{FF2B5EF4-FFF2-40B4-BE49-F238E27FC236}">
                <a16:creationId xmlns:a16="http://schemas.microsoft.com/office/drawing/2014/main" id="{B9748D99-CF51-80A9-7864-6A935BCA9E21}"/>
              </a:ext>
            </a:extLst>
          </p:cNvPr>
          <p:cNvSpPr/>
          <p:nvPr/>
        </p:nvSpPr>
        <p:spPr>
          <a:xfrm>
            <a:off x="4925867" y="4865174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Lato"/>
              </a:rPr>
              <a:t>7</a:t>
            </a:r>
          </a:p>
        </p:txBody>
      </p:sp>
      <p:cxnSp>
        <p:nvCxnSpPr>
          <p:cNvPr id="48" name="Connector 11">
            <a:extLst>
              <a:ext uri="{FF2B5EF4-FFF2-40B4-BE49-F238E27FC236}">
                <a16:creationId xmlns:a16="http://schemas.microsoft.com/office/drawing/2014/main" id="{931854C7-5371-1435-BD26-87BBD8131515}"/>
              </a:ext>
            </a:extLst>
          </p:cNvPr>
          <p:cNvCxnSpPr>
            <a:cxnSpLocks/>
            <a:stCxn id="41" idx="1"/>
            <a:endCxn id="42" idx="5"/>
          </p:cNvCxnSpPr>
          <p:nvPr/>
        </p:nvCxnSpPr>
        <p:spPr>
          <a:xfrm flipH="1" flipV="1">
            <a:off x="1867893" y="4556696"/>
            <a:ext cx="1883653" cy="479797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2">
            <a:extLst>
              <a:ext uri="{FF2B5EF4-FFF2-40B4-BE49-F238E27FC236}">
                <a16:creationId xmlns:a16="http://schemas.microsoft.com/office/drawing/2014/main" id="{23962E81-E446-2388-A043-AAE37CC08ECE}"/>
              </a:ext>
            </a:extLst>
          </p:cNvPr>
          <p:cNvCxnSpPr>
            <a:cxnSpLocks/>
            <a:stCxn id="41" idx="4"/>
            <a:endCxn id="43" idx="0"/>
          </p:cNvCxnSpPr>
          <p:nvPr/>
        </p:nvCxnSpPr>
        <p:spPr>
          <a:xfrm flipH="1">
            <a:off x="3348041" y="5504787"/>
            <a:ext cx="597479" cy="461471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3">
            <a:extLst>
              <a:ext uri="{FF2B5EF4-FFF2-40B4-BE49-F238E27FC236}">
                <a16:creationId xmlns:a16="http://schemas.microsoft.com/office/drawing/2014/main" id="{24C01D1C-082C-3F3B-0733-E2C6F3418246}"/>
              </a:ext>
            </a:extLst>
          </p:cNvPr>
          <p:cNvCxnSpPr>
            <a:cxnSpLocks/>
            <a:stCxn id="41" idx="2"/>
            <a:endCxn id="45" idx="6"/>
          </p:cNvCxnSpPr>
          <p:nvPr/>
        </p:nvCxnSpPr>
        <p:spPr>
          <a:xfrm flipH="1" flipV="1">
            <a:off x="769105" y="5048522"/>
            <a:ext cx="2902095" cy="181945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14">
            <a:extLst>
              <a:ext uri="{FF2B5EF4-FFF2-40B4-BE49-F238E27FC236}">
                <a16:creationId xmlns:a16="http://schemas.microsoft.com/office/drawing/2014/main" id="{84F3CBEA-0186-D52C-2BCA-967D498D237B}"/>
              </a:ext>
            </a:extLst>
          </p:cNvPr>
          <p:cNvCxnSpPr>
            <a:cxnSpLocks/>
            <a:stCxn id="42" idx="4"/>
            <a:endCxn id="44" idx="0"/>
          </p:cNvCxnSpPr>
          <p:nvPr/>
        </p:nvCxnSpPr>
        <p:spPr>
          <a:xfrm flipH="1">
            <a:off x="1509933" y="4637042"/>
            <a:ext cx="163986" cy="132921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5">
            <a:extLst>
              <a:ext uri="{FF2B5EF4-FFF2-40B4-BE49-F238E27FC236}">
                <a16:creationId xmlns:a16="http://schemas.microsoft.com/office/drawing/2014/main" id="{F7AD53E6-CE2F-3F0D-BEF7-F4A9D95C5D4F}"/>
              </a:ext>
            </a:extLst>
          </p:cNvPr>
          <p:cNvCxnSpPr>
            <a:cxnSpLocks/>
            <a:stCxn id="42" idx="6"/>
            <a:endCxn id="46" idx="2"/>
          </p:cNvCxnSpPr>
          <p:nvPr/>
        </p:nvCxnSpPr>
        <p:spPr>
          <a:xfrm flipV="1">
            <a:off x="1948239" y="4272956"/>
            <a:ext cx="1179133" cy="8976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6">
            <a:extLst>
              <a:ext uri="{FF2B5EF4-FFF2-40B4-BE49-F238E27FC236}">
                <a16:creationId xmlns:a16="http://schemas.microsoft.com/office/drawing/2014/main" id="{69F774F4-232D-CE84-2EDA-88E560D7AF85}"/>
              </a:ext>
            </a:extLst>
          </p:cNvPr>
          <p:cNvCxnSpPr>
            <a:cxnSpLocks/>
            <a:stCxn id="43" idx="2"/>
            <a:endCxn id="44" idx="6"/>
          </p:cNvCxnSpPr>
          <p:nvPr/>
        </p:nvCxnSpPr>
        <p:spPr>
          <a:xfrm flipH="1">
            <a:off x="1784253" y="6240578"/>
            <a:ext cx="1289468" cy="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7">
            <a:extLst>
              <a:ext uri="{FF2B5EF4-FFF2-40B4-BE49-F238E27FC236}">
                <a16:creationId xmlns:a16="http://schemas.microsoft.com/office/drawing/2014/main" id="{7D2679A0-B232-BF1C-577D-13FA130B5D72}"/>
              </a:ext>
            </a:extLst>
          </p:cNvPr>
          <p:cNvCxnSpPr>
            <a:cxnSpLocks/>
            <a:stCxn id="43" idx="0"/>
            <a:endCxn id="47" idx="3"/>
          </p:cNvCxnSpPr>
          <p:nvPr/>
        </p:nvCxnSpPr>
        <p:spPr>
          <a:xfrm flipV="1">
            <a:off x="3348041" y="5333468"/>
            <a:ext cx="1658172" cy="632790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18">
            <a:extLst>
              <a:ext uri="{FF2B5EF4-FFF2-40B4-BE49-F238E27FC236}">
                <a16:creationId xmlns:a16="http://schemas.microsoft.com/office/drawing/2014/main" id="{CE3B42B2-2D79-2BF1-656B-05D8FF97E009}"/>
              </a:ext>
            </a:extLst>
          </p:cNvPr>
          <p:cNvCxnSpPr>
            <a:cxnSpLocks/>
            <a:stCxn id="44" idx="2"/>
            <a:endCxn id="45" idx="4"/>
          </p:cNvCxnSpPr>
          <p:nvPr/>
        </p:nvCxnSpPr>
        <p:spPr>
          <a:xfrm flipH="1" flipV="1">
            <a:off x="494785" y="5322842"/>
            <a:ext cx="740828" cy="917736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9">
            <a:extLst>
              <a:ext uri="{FF2B5EF4-FFF2-40B4-BE49-F238E27FC236}">
                <a16:creationId xmlns:a16="http://schemas.microsoft.com/office/drawing/2014/main" id="{5E7625D5-90F7-0588-4A55-AE0CF4985FE0}"/>
              </a:ext>
            </a:extLst>
          </p:cNvPr>
          <p:cNvCxnSpPr>
            <a:cxnSpLocks/>
            <a:stCxn id="45" idx="7"/>
            <a:endCxn id="46" idx="3"/>
          </p:cNvCxnSpPr>
          <p:nvPr/>
        </p:nvCxnSpPr>
        <p:spPr>
          <a:xfrm flipV="1">
            <a:off x="688759" y="4466930"/>
            <a:ext cx="2518959" cy="38761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20">
            <a:extLst>
              <a:ext uri="{FF2B5EF4-FFF2-40B4-BE49-F238E27FC236}">
                <a16:creationId xmlns:a16="http://schemas.microsoft.com/office/drawing/2014/main" id="{BF7274A2-92EA-82AD-CCEB-77D36DEF87E9}"/>
              </a:ext>
            </a:extLst>
          </p:cNvPr>
          <p:cNvCxnSpPr>
            <a:cxnSpLocks/>
            <a:stCxn id="46" idx="6"/>
            <a:endCxn id="47" idx="2"/>
          </p:cNvCxnSpPr>
          <p:nvPr/>
        </p:nvCxnSpPr>
        <p:spPr>
          <a:xfrm>
            <a:off x="3676012" y="4272956"/>
            <a:ext cx="1249855" cy="866538"/>
          </a:xfrm>
          <a:prstGeom prst="line">
            <a:avLst/>
          </a:prstGeom>
          <a:ln w="25400">
            <a:solidFill>
              <a:srgbClr val="8C8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4170FF5B-8111-146C-5347-A0CA61A130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4110734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4170FF5B-8111-146C-5347-A0CA61A130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4110734"/>
                  </p:ext>
                </p:extLst>
              </p:nvPr>
            </p:nvGraphicFramePr>
            <p:xfrm>
              <a:off x="5594296" y="3554534"/>
              <a:ext cx="3469273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6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49867">
                      <a:extLst>
                        <a:ext uri="{9D8B030D-6E8A-4147-A177-3AD203B41FA5}">
                          <a16:colId xmlns:a16="http://schemas.microsoft.com/office/drawing/2014/main" val="3661589079"/>
                        </a:ext>
                      </a:extLst>
                    </a:gridCol>
                    <a:gridCol w="647702">
                      <a:extLst>
                        <a:ext uri="{9D8B030D-6E8A-4147-A177-3AD203B41FA5}">
                          <a16:colId xmlns:a16="http://schemas.microsoft.com/office/drawing/2014/main" val="38855898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Node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Marks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Active?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Lato"/>
                            </a:rPr>
                            <a:t>Gen</a:t>
                          </a:r>
                          <a:endParaRPr sz="2000" b="1" dirty="0">
                            <a:solidFill>
                              <a:srgbClr val="FFFFFF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3333B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103125" r="-331250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103125" r="-178947" b="-6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✔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103125" r="-3922" b="-6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209677" r="-331250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209677" r="-178947" b="-5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209677" r="-3922" b="-538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300000" r="-331250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300000" r="-178947" b="-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300000" r="-3922" b="-4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412903" r="-331250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412903" r="-178947" b="-3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  <a:latin typeface="Lato"/>
                            </a:rPr>
                            <a:t>✔</a:t>
                          </a: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412903" r="-3922" b="-3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343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512903" r="-331250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512903" r="-178947" b="-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512903" r="-3922" b="-2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593750" r="-331250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593750" r="-178947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rgbClr val="F2F2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593750" r="-3922" b="-1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6764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63" t="-716129" r="-331250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26" t="-716129" r="-178947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333333"/>
                              </a:solidFill>
                              <a:latin typeface="Lato"/>
                            </a:rPr>
                            <a:t>✘</a:t>
                          </a:r>
                          <a:endParaRPr sz="2000" dirty="0">
                            <a:solidFill>
                              <a:srgbClr val="333333"/>
                            </a:solidFill>
                            <a:latin typeface="Lato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216" t="-716129" r="-3922" b="-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13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456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AB7D87-386A-FC45-B543-5462B37D07C3}">
  <we:reference id="4b785c87-866c-4bad-85d8-5d1ae467ac9a" version="3.26.0.0" store="EXCatalog" storeType="EXCatalog"/>
  <we:alternateReferences>
    <we:reference id="WA104381909" version="3.26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1005</Words>
  <Application>Microsoft Macintosh PowerPoint</Application>
  <PresentationFormat>On-screen Show (4:3)</PresentationFormat>
  <Paragraphs>327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 Math</vt:lpstr>
      <vt:lpstr>Arial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Mei, Gary</cp:lastModifiedBy>
  <cp:revision>16</cp:revision>
  <dcterms:modified xsi:type="dcterms:W3CDTF">2026-06-26T12:50:37Z</dcterms:modified>
</cp:coreProperties>
</file>