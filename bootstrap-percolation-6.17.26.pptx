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/>
    <p:restoredTop sz="94658"/>
  </p:normalViewPr>
  <p:slideViewPr>
    <p:cSldViewPr snapToGrid="0">
      <p:cViewPr varScale="1">
        <p:scale>
          <a:sx n="120" d="100"/>
          <a:sy n="120" d="100"/>
        </p:scale>
        <p:origin x="2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gTitle 11"/>
          <p:cNvSpPr txBox="1"/>
          <p:nvPr/>
        </p:nvSpPr>
        <p:spPr>
          <a:xfrm>
            <a:off x="457200" y="2331720"/>
            <a:ext cx="8229600" cy="9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Bootstrap Percolation on the Random Graph </a:t>
            </a:r>
            <a:r>
              <a:rPr lang="en-US" sz="3400" b="0" i="1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G</a:t>
            </a:r>
            <a:r>
              <a:rPr lang="en-US" sz="2380" b="0" i="1" baseline="-2100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n,p</a:t>
            </a:r>
          </a:p>
        </p:txBody>
      </p:sp>
      <p:sp>
        <p:nvSpPr>
          <p:cNvPr id="12" name="Sub 12"/>
          <p:cNvSpPr txBox="1"/>
          <p:nvPr/>
        </p:nvSpPr>
        <p:spPr>
          <a:xfrm>
            <a:off x="457200" y="3591720"/>
            <a:ext cx="8229600" cy="43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Janson, Łuczak, Turova &amp; Vallier (2012)</a:t>
            </a:r>
          </a:p>
        </p:txBody>
      </p:sp>
      <p:sp>
        <p:nvSpPr>
          <p:cNvPr id="13" name="Sub2 13"/>
          <p:cNvSpPr txBox="1"/>
          <p:nvPr/>
        </p:nvSpPr>
        <p:spPr>
          <a:xfrm>
            <a:off x="457200" y="3720000"/>
            <a:ext cx="82296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dirty="0">
              <a:solidFill>
                <a:srgbClr val="5A5A5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4" name="Author 14"/>
          <p:cNvSpPr txBox="1"/>
          <p:nvPr/>
        </p:nvSpPr>
        <p:spPr>
          <a:xfrm>
            <a:off x="457200" y="4360000"/>
            <a:ext cx="82296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Gary Mei      ·      </a:t>
            </a:r>
            <a:r>
              <a:rPr lang="en-US" sz="1300" dirty="0" err="1">
                <a:solidFill>
                  <a:srgbClr val="5A5A5A"/>
                </a:solidFill>
                <a:latin typeface="Lato"/>
                <a:ea typeface="Lato"/>
                <a:cs typeface="Lato"/>
              </a:rPr>
              <a:t>ISyE</a:t>
            </a:r>
            <a:r>
              <a:rPr lang="en-US" sz="130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 Summer Scholars Program	</a:t>
            </a:r>
            <a:r>
              <a:rPr lang="en-US" sz="13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·      June 16,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E78624-1C6E-BC7A-2CFD-B76F734BB582}"/>
              </a:ext>
            </a:extLst>
          </p:cNvPr>
          <p:cNvSpPr txBox="1"/>
          <p:nvPr/>
        </p:nvSpPr>
        <p:spPr>
          <a:xfrm>
            <a:off x="-880533" y="72813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Outline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265000"/>
            <a:ext cx="8046720" cy="549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28600" algn="l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model and the central question</a:t>
            </a:r>
          </a:p>
          <a:p>
            <a:pPr marL="274320" indent="-228600" algn="l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Reformulation as a one-dimensional process</a:t>
            </a:r>
          </a:p>
          <a:p>
            <a:pPr marL="274320" indent="-228600" algn="l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Sharp threshold for activation, and the phase diagram</a:t>
            </a:r>
          </a:p>
          <a:p>
            <a:pPr marL="274320" indent="-228600" algn="l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Gaussian fluctuations and the number of generations</a:t>
            </a:r>
          </a:p>
          <a:p>
            <a:pPr marL="274320" indent="-228600" algn="l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Dynamical variants and boundary regimes</a:t>
            </a:r>
          </a:p>
          <a:p>
            <a:pPr marL="274320" indent="-228600" algn="l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Idea of the proof: a bottleneck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Bootstrap percolation: the model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8046720" cy="18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Definition (Chalupa–Leath–Reich, 1979).</a:t>
            </a:r>
          </a:p>
          <a:p>
            <a:pPr marL="0" indent="0" algn="l">
              <a:lnSpc>
                <a:spcPct val="116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Fix an integer threshold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≥ 2 and an initial active set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(0) of size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At each step, every inactive vertex with at least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active neighbours becomes active; repeat until nothing changes.</a:t>
            </a:r>
          </a:p>
          <a:p>
            <a:pPr marL="0" indent="0" algn="l">
              <a:lnSpc>
                <a:spcPct val="116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10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the final number of active vertices. The process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percolates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if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10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and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almost percolates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if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10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− o(</a:t>
            </a:r>
            <a:r>
              <a:rPr lang="en-US" sz="16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).</a:t>
            </a:r>
          </a:p>
        </p:txBody>
      </p:sp>
      <p:pic>
        <p:nvPicPr>
          <p:cNvPr id="14" name="d1_rul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72" y="2915000"/>
            <a:ext cx="7844255" cy="3545000"/>
          </a:xfrm>
          <a:prstGeom prst="rect">
            <a:avLst/>
          </a:prstGeom>
        </p:spPr>
      </p:pic>
      <p:sp>
        <p:nvSpPr>
          <p:cNvPr id="15" name="Cap 15"/>
          <p:cNvSpPr txBox="1"/>
          <p:nvPr/>
        </p:nvSpPr>
        <p:spPr>
          <a:xfrm>
            <a:off x="548640" y="6500000"/>
            <a:ext cx="804672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The update rule for 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 = 2: a vertex turns active once two neighbours are active.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Setup: the graph and the parameters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804672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The setting.</a:t>
            </a:r>
          </a:p>
          <a:p>
            <a:pPr marL="274320" indent="-228600" algn="l">
              <a:lnSpc>
                <a:spcPct val="116000"/>
              </a:lnSpc>
              <a:spcBef>
                <a:spcPts val="5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Graph: the Erdős–Rényi random graph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G</a:t>
            </a:r>
            <a:r>
              <a:rPr lang="en-US" sz="2400" b="0" i="1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n,p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on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vertices, each edge present independently with probability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274320" indent="-228600" algn="l">
              <a:lnSpc>
                <a:spcPct val="116000"/>
              </a:lnSpc>
              <a:spcBef>
                <a:spcPts val="5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Parameters: threshold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≥ 2, seed size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edge probability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; the seed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(0) is a uniform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-subset of the vertices.</a:t>
            </a:r>
          </a:p>
          <a:p>
            <a:pPr marL="274320" indent="-228600" algn="l">
              <a:lnSpc>
                <a:spcPct val="116000"/>
              </a:lnSpc>
              <a:spcBef>
                <a:spcPts val="5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Quantities of interest: the final size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whether percolation occurs, and the number of generations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τ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until the process stops.</a:t>
            </a:r>
          </a:p>
          <a:p>
            <a:pPr marL="274320" indent="-228600" algn="l">
              <a:lnSpc>
                <a:spcPct val="116000"/>
              </a:lnSpc>
              <a:spcBef>
                <a:spcPts val="5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Main regime studied: 1/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&lt;&lt;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&lt;&lt;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−1/r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— sparse, but above the scale where percolation becomes 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The central question: a sharp transition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376000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Small seed or (almost) everything.</a:t>
            </a:r>
          </a:p>
          <a:p>
            <a:pPr marL="0" indent="0" algn="l">
              <a:lnSpc>
                <a:spcPct val="118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Depending on the seed size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the final active set is either small or essentially the whole graph:</a:t>
            </a:r>
          </a:p>
          <a:p>
            <a:pPr marL="274320" indent="-228600" algn="l">
              <a:lnSpc>
                <a:spcPct val="116000"/>
              </a:lnSpc>
              <a:spcBef>
                <a:spcPts val="36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0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subcritical: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0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&lt; 2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— the seed barely spreads;</a:t>
            </a:r>
          </a:p>
          <a:p>
            <a:pPr marL="274320" indent="-228600"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0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supercritical: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0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− o(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 — almost all vertices.</a:t>
            </a:r>
          </a:p>
          <a:p>
            <a:pPr marL="0" indent="0" algn="l">
              <a:lnSpc>
                <a:spcPct val="118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jump between the two happens within a narrow window of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pic>
        <p:nvPicPr>
          <p:cNvPr id="14" name="d2_transitio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640" y="2256369"/>
            <a:ext cx="4066720" cy="2982261"/>
          </a:xfrm>
          <a:prstGeom prst="rect">
            <a:avLst/>
          </a:prstGeom>
        </p:spPr>
      </p:pic>
      <p:sp>
        <p:nvSpPr>
          <p:cNvPr id="15" name="Cap 15"/>
          <p:cNvSpPr txBox="1"/>
          <p:nvPr/>
        </p:nvSpPr>
        <p:spPr>
          <a:xfrm>
            <a:off x="4528640" y="5278630"/>
            <a:ext cx="406672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Final active fraction 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770" b="0" i="0" baseline="3000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/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 as 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 crosses 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770" b="0" i="1" baseline="-2100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 useful reformulation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804672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From a graph process to a 1-D walk</a:t>
            </a:r>
          </a:p>
          <a:p>
            <a:pPr marL="274320" indent="-228600" algn="l">
              <a:lnSpc>
                <a:spcPct val="116000"/>
              </a:lnSpc>
              <a:spcBef>
                <a:spcPts val="46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Activate vertices one at a time; when a vertex becomes active, reveal its edges to the still-inactive vertices.</a:t>
            </a:r>
          </a:p>
          <a:p>
            <a:pPr marL="274320" indent="-228600" algn="l">
              <a:lnSpc>
                <a:spcPct val="116000"/>
              </a:lnSpc>
              <a:spcBef>
                <a:spcPts val="46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For the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i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-th activated vertex, the number of inspections needed to reach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active neighbours is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Y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i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~ NegBin(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), independent across vertices.</a:t>
            </a:r>
          </a:p>
          <a:p>
            <a:pPr marL="274320" indent="-228600" algn="l">
              <a:lnSpc>
                <a:spcPct val="116000"/>
              </a:lnSpc>
              <a:spcBef>
                <a:spcPts val="46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After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activations, the number of newly triggered vertices is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~ Bin(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−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π(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)), with π(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= P(Bin(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≥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).</a:t>
            </a:r>
          </a:p>
          <a:p>
            <a:pPr marL="274320" indent="-228600" algn="l">
              <a:lnSpc>
                <a:spcPct val="116000"/>
              </a:lnSpc>
              <a:spcBef>
                <a:spcPts val="46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Stop at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min{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: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≤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}; then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The whole question reduces to the one-dimensional process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−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Main result: the critical seed size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804672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Theorem 3.1 (sharp threshold).</a:t>
            </a:r>
          </a:p>
          <a:p>
            <a:pPr>
              <a:lnSpc>
                <a:spcPct val="108000"/>
              </a:lnSpc>
              <a:spcBef>
                <a:spcPts val="40"/>
              </a:spcBef>
            </a:pPr>
            <a:r>
              <a:rPr lang="en-US" sz="2400" dirty="0">
                <a:latin typeface="Lato"/>
                <a:ea typeface="Lato"/>
                <a:cs typeface="Lato"/>
              </a:rPr>
              <a:t>Assuming that 1/</a:t>
            </a:r>
            <a:r>
              <a:rPr lang="en-US" sz="2400" i="1" dirty="0">
                <a:latin typeface="Lato"/>
                <a:ea typeface="Lato"/>
                <a:cs typeface="Lato"/>
              </a:rPr>
              <a:t>n</a:t>
            </a:r>
            <a:r>
              <a:rPr lang="en-US" sz="2400" dirty="0">
                <a:latin typeface="Lato"/>
                <a:ea typeface="Lato"/>
                <a:cs typeface="Lato"/>
              </a:rPr>
              <a:t> &lt;&lt; </a:t>
            </a:r>
            <a:r>
              <a:rPr lang="en-US" sz="2400" i="1" dirty="0">
                <a:latin typeface="Lato"/>
                <a:ea typeface="Lato"/>
                <a:cs typeface="Lato"/>
              </a:rPr>
              <a:t>p</a:t>
            </a:r>
            <a:r>
              <a:rPr lang="en-US" sz="2400" dirty="0">
                <a:latin typeface="Lato"/>
                <a:ea typeface="Lato"/>
                <a:cs typeface="Lato"/>
              </a:rPr>
              <a:t> &lt;&lt; </a:t>
            </a:r>
            <a:r>
              <a:rPr lang="en-US" sz="2400" i="1" dirty="0">
                <a:latin typeface="Lato"/>
                <a:ea typeface="Lato"/>
                <a:cs typeface="Lato"/>
              </a:rPr>
              <a:t>n</a:t>
            </a:r>
            <a:r>
              <a:rPr lang="en-US" sz="2400" baseline="30000" dirty="0">
                <a:latin typeface="Lato"/>
                <a:ea typeface="Lato"/>
                <a:cs typeface="Lato"/>
              </a:rPr>
              <a:t>−1/r</a:t>
            </a:r>
            <a:r>
              <a:rPr lang="en-US" sz="2400" dirty="0">
                <a:latin typeface="Lato"/>
                <a:ea typeface="Lato"/>
                <a:cs typeface="Lato"/>
              </a:rPr>
              <a:t> and r ≥ 2</a:t>
            </a:r>
            <a:endParaRPr lang="en-US" sz="2400" b="1" i="0" dirty="0">
              <a:solidFill>
                <a:srgbClr val="3333B2"/>
              </a:solidFill>
              <a:latin typeface="Lato"/>
              <a:ea typeface="Lato"/>
              <a:cs typeface="Lato"/>
            </a:endParaRPr>
          </a:p>
          <a:p>
            <a:pPr marL="0" indent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( 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− 1)! / 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np</a:t>
            </a:r>
            <a:r>
              <a:rPr lang="en-US" sz="2400" b="0" i="1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)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1/(r−1)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  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(1 − 1/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274320" indent="-228600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If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→ α &lt; 1 </a:t>
            </a: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(subcritical):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&lt; 2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w.h.p.</a:t>
            </a:r>
          </a:p>
          <a:p>
            <a:pPr marL="274320" indent="-228600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If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→ α &gt; 1 </a:t>
            </a: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(supercritical):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−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b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).</a:t>
            </a:r>
          </a:p>
          <a:p>
            <a:pPr marL="274320" indent="-228600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Complete percolation 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w.h.p.) holds </a:t>
            </a:r>
            <a:r>
              <a:rPr lang="en-US" sz="2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iff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 </a:t>
            </a:r>
          </a:p>
          <a:p>
            <a:pPr marL="45720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3333B2"/>
              </a:buClr>
              <a:buSzPct val="80000"/>
            </a:pP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	np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− ( log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+ 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− 1) log log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) → +∞.</a:t>
            </a:r>
          </a:p>
          <a:p>
            <a:pPr marL="45720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3333B2"/>
              </a:buClr>
              <a:buSzPct val="80000"/>
            </a:pPr>
            <a:endParaRPr lang="en-US" sz="2400" dirty="0">
              <a:latin typeface="Lato"/>
              <a:ea typeface="Lato"/>
              <a:cs typeface="Lato"/>
            </a:endParaRPr>
          </a:p>
          <a:p>
            <a:pPr marL="45720">
              <a:lnSpc>
                <a:spcPct val="116000"/>
              </a:lnSpc>
              <a:spcBef>
                <a:spcPts val="420"/>
              </a:spcBef>
              <a:buClr>
                <a:srgbClr val="3333B2"/>
              </a:buClr>
              <a:buSzPct val="80000"/>
            </a:pPr>
            <a:r>
              <a:rPr lang="en-US" sz="2400" dirty="0">
                <a:latin typeface="Lato"/>
                <a:ea typeface="Lato"/>
                <a:cs typeface="Lato"/>
              </a:rPr>
              <a:t>For </a:t>
            </a:r>
            <a:r>
              <a:rPr lang="en-US" sz="2400" i="1" dirty="0">
                <a:latin typeface="Lato"/>
                <a:ea typeface="Lato"/>
                <a:cs typeface="Lato"/>
              </a:rPr>
              <a:t>r</a:t>
            </a:r>
            <a:r>
              <a:rPr lang="en-US" sz="2400" dirty="0">
                <a:latin typeface="Lato"/>
                <a:ea typeface="Lato"/>
                <a:cs typeface="Lato"/>
              </a:rPr>
              <a:t> = 2 :   </a:t>
            </a:r>
            <a:r>
              <a:rPr lang="en-US" sz="2400" i="1" dirty="0" err="1">
                <a:latin typeface="Lato"/>
                <a:ea typeface="Lato"/>
                <a:cs typeface="Lato"/>
              </a:rPr>
              <a:t>t</a:t>
            </a:r>
            <a:r>
              <a:rPr lang="en-US" sz="2400" baseline="-21000" dirty="0" err="1">
                <a:latin typeface="Lato"/>
                <a:ea typeface="Lato"/>
                <a:cs typeface="Lato"/>
              </a:rPr>
              <a:t>c</a:t>
            </a:r>
            <a:r>
              <a:rPr lang="en-US" sz="2400" dirty="0">
                <a:latin typeface="Lato"/>
                <a:ea typeface="Lato"/>
                <a:cs typeface="Lato"/>
              </a:rPr>
              <a:t> = 1/(</a:t>
            </a:r>
            <a:r>
              <a:rPr lang="en-US" sz="2400" i="1" dirty="0">
                <a:latin typeface="Lato"/>
                <a:ea typeface="Lato"/>
                <a:cs typeface="Lato"/>
              </a:rPr>
              <a:t>np</a:t>
            </a:r>
            <a:r>
              <a:rPr lang="en-US" sz="2400" baseline="30000" dirty="0">
                <a:latin typeface="Lato"/>
                <a:ea typeface="Lato"/>
                <a:cs typeface="Lato"/>
              </a:rPr>
              <a:t>2</a:t>
            </a:r>
            <a:r>
              <a:rPr lang="en-US" sz="2400" dirty="0">
                <a:latin typeface="Lato"/>
                <a:ea typeface="Lato"/>
                <a:cs typeface="Lato"/>
              </a:rPr>
              <a:t>),     </a:t>
            </a:r>
            <a:r>
              <a:rPr lang="en-US" sz="2400" i="1" dirty="0">
                <a:latin typeface="Lato"/>
                <a:ea typeface="Lato"/>
                <a:cs typeface="Lato"/>
              </a:rPr>
              <a:t>a</a:t>
            </a:r>
            <a:r>
              <a:rPr lang="en-US" sz="2400" baseline="-21000" dirty="0">
                <a:latin typeface="Lato"/>
                <a:ea typeface="Lato"/>
                <a:cs typeface="Lato"/>
              </a:rPr>
              <a:t>c</a:t>
            </a:r>
            <a:r>
              <a:rPr lang="en-US" sz="2400" dirty="0">
                <a:latin typeface="Lato"/>
                <a:ea typeface="Lato"/>
                <a:cs typeface="Lato"/>
              </a:rPr>
              <a:t> = 1/(2</a:t>
            </a:r>
            <a:r>
              <a:rPr lang="en-US" sz="2400" i="1" dirty="0">
                <a:latin typeface="Lato"/>
                <a:ea typeface="Lato"/>
                <a:cs typeface="Lato"/>
              </a:rPr>
              <a:t>np</a:t>
            </a:r>
            <a:r>
              <a:rPr lang="en-US" sz="2400" baseline="30000" dirty="0">
                <a:latin typeface="Lato"/>
                <a:ea typeface="Lato"/>
                <a:cs typeface="Lato"/>
              </a:rPr>
              <a:t>2</a:t>
            </a:r>
            <a:r>
              <a:rPr lang="en-US" sz="2400" dirty="0">
                <a:latin typeface="Lato"/>
                <a:ea typeface="Lato"/>
                <a:cs typeface="Lato"/>
              </a:rPr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The phase diagram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418000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Critical curve and the two flavours.</a:t>
            </a:r>
          </a:p>
          <a:p>
            <a:pPr marL="0" indent="0" algn="l">
              <a:lnSpc>
                <a:spcPct val="12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= Θ( 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na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r−1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−1/r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).</a:t>
            </a:r>
          </a:p>
          <a:p>
            <a:pPr marL="0" indent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For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2 : 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(2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−1/2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0" indent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Tuning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at fixed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or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at fixed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gives the same transition (the two are inverse).</a:t>
            </a:r>
          </a:p>
          <a:p>
            <a:pPr marL="0" indent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"Almost" and "complete" percolation differ only for large seeds: e.g.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/log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2 gives almost-percolation at </a:t>
            </a:r>
          </a:p>
          <a:p>
            <a:pPr marL="0" indent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~ √(log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), complete at </a:t>
            </a:r>
          </a:p>
          <a:p>
            <a:pPr marL="0" indent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~ (log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pic>
        <p:nvPicPr>
          <p:cNvPr id="14" name="d3_phas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40" y="2362552"/>
            <a:ext cx="3666720" cy="2789896"/>
          </a:xfrm>
          <a:prstGeom prst="rect">
            <a:avLst/>
          </a:prstGeom>
        </p:spPr>
      </p:pic>
      <p:sp>
        <p:nvSpPr>
          <p:cNvPr id="15" name="Cap 15"/>
          <p:cNvSpPr txBox="1"/>
          <p:nvPr/>
        </p:nvSpPr>
        <p:spPr>
          <a:xfrm>
            <a:off x="4928640" y="5192448"/>
            <a:ext cx="366672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Regimes in the (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)-plane (log–log).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Gaussian fluctuations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Body 13"/>
              <p:cNvSpPr txBox="1"/>
              <p:nvPr/>
            </p:nvSpPr>
            <p:spPr>
              <a:xfrm>
                <a:off x="548640" y="1015000"/>
                <a:ext cx="8046720" cy="5745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marL="0" indent="0" algn="l">
                  <a:lnSpc>
                    <a:spcPct val="108000"/>
                  </a:lnSpc>
                  <a:spcBef>
                    <a:spcPts val="40"/>
                  </a:spcBef>
                  <a:spcAft>
                    <a:spcPts val="0"/>
                  </a:spcAft>
                  <a:buNone/>
                </a:pPr>
                <a:r>
                  <a:rPr lang="en-US" sz="2400" b="1" i="0" dirty="0">
                    <a:solidFill>
                      <a:srgbClr val="3333B2"/>
                    </a:solidFill>
                    <a:latin typeface="Lato"/>
                    <a:ea typeface="Lato"/>
                    <a:cs typeface="Lato"/>
                  </a:rPr>
                  <a:t>Theorems 3.6 and 3.8.</a:t>
                </a:r>
              </a:p>
              <a:p>
                <a:pPr marL="274320" indent="-228600" algn="l">
                  <a:lnSpc>
                    <a:spcPct val="12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rgbClr val="3333B2"/>
                  </a:buClr>
                  <a:buSzPct val="80000"/>
                  <a:buFont typeface="Lato"/>
                  <a:buChar char="▪"/>
                </a:pP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The transition window has width 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√a</a:t>
                </a:r>
                <a:r>
                  <a:rPr lang="en-US" sz="2400" b="0" i="1" baseline="-2100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c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around a Poisson-corrected centre 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a</a:t>
                </a:r>
                <a:r>
                  <a:rPr lang="en-US" sz="2400" b="0" i="1" baseline="-2100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c</a:t>
                </a:r>
                <a:r>
                  <a:rPr lang="en-US" sz="2400" b="0" i="0" baseline="3000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*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.</a:t>
                </a:r>
              </a:p>
              <a:p>
                <a:pPr marL="274320" indent="-228600" algn="l">
                  <a:lnSpc>
                    <a:spcPct val="12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rgbClr val="3333B2"/>
                  </a:buClr>
                  <a:buSzPct val="80000"/>
                  <a:buFont typeface="Lato"/>
                  <a:buChar char="▪"/>
                </a:pP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If (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a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− 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a</a:t>
                </a:r>
                <a:r>
                  <a:rPr lang="en-US" sz="2400" b="0" i="1" baseline="-2100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c</a:t>
                </a:r>
                <a:r>
                  <a:rPr lang="en-US" sz="2400" b="0" i="0" baseline="3000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*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)/√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a</a:t>
                </a:r>
                <a:r>
                  <a:rPr lang="en-US" sz="2400" b="0" i="1" baseline="-2100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c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→ 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y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, then the probability of crossing the threshold tends to Φ( √(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r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− 1) · 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y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).</a:t>
                </a:r>
              </a:p>
              <a:p>
                <a:pPr marL="274320" indent="-228600" algn="l">
                  <a:lnSpc>
                    <a:spcPct val="12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rgbClr val="3333B2"/>
                  </a:buClr>
                  <a:buSzPct val="80000"/>
                  <a:buFont typeface="Lato"/>
                  <a:buChar char="▪"/>
                </a:pP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In the subcritical phase, 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A</a:t>
                </a:r>
                <a:r>
                  <a:rPr lang="en-US" sz="2400" b="0" i="0" baseline="3000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*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satisfies a central limit theorem: (</a:t>
                </a:r>
                <a:r>
                  <a:rPr lang="en-US" sz="2400" b="0" i="1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A</a:t>
                </a:r>
                <a:r>
                  <a:rPr lang="en-US" sz="2400" b="0" i="0" baseline="3000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*</a:t>
                </a:r>
                <a:r>
                  <a:rPr lang="en-US" sz="2400" b="0" i="0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</a:rPr>
                  <a:t> − μ)/σ → N(0, 1).</a:t>
                </a:r>
              </a:p>
              <a:p>
                <a:pPr marL="0" indent="0" algn="l">
                  <a:lnSpc>
                    <a:spcPct val="118000"/>
                  </a:lnSpc>
                  <a:spcBef>
                    <a:spcPts val="620"/>
                  </a:spcBef>
                  <a:spcAft>
                    <a:spcPts val="0"/>
                  </a:spcAft>
                  <a:buNone/>
                </a:pPr>
                <a:r>
                  <a:rPr lang="en-US" sz="2400" b="0" i="1" dirty="0">
                    <a:solidFill>
                      <a:srgbClr val="5A5A5A"/>
                    </a:solidFill>
                    <a:latin typeface="Lato"/>
                    <a:ea typeface="Lato"/>
                    <a:cs typeface="Lato"/>
                  </a:rPr>
                  <a:t>So the picture is not just a sharp threshold but a Gaussian profile across the critical window, with explicit centring and scaling.</a:t>
                </a:r>
              </a:p>
              <a:p>
                <a:pPr marL="0" indent="0" algn="l">
                  <a:lnSpc>
                    <a:spcPct val="118000"/>
                  </a:lnSpc>
                  <a:spcBef>
                    <a:spcPts val="62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𝑅𝐸𝑀𝐴𝑅𝐾</m:t>
                      </m:r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: </m:t>
                      </m:r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𝑃𝑜𝑖𝑠𝑠𝑜𝑛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5A5A5A"/>
                              </a:solidFill>
                              <a:latin typeface="Cambria Math" panose="02040503050406030204" pitchFamily="18" charset="0"/>
                              <a:ea typeface="Lato"/>
                              <a:cs typeface="Lato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5A5A5A"/>
                              </a:solidFill>
                              <a:latin typeface="Cambria Math" panose="02040503050406030204" pitchFamily="18" charset="0"/>
                              <a:ea typeface="Lato"/>
                              <a:cs typeface="Lato"/>
                            </a:rPr>
                            <m:t>𝜆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∼</m:t>
                      </m:r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𝑁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5A5A5A"/>
                              </a:solidFill>
                              <a:latin typeface="Cambria Math" panose="02040503050406030204" pitchFamily="18" charset="0"/>
                              <a:ea typeface="Lato"/>
                              <a:cs typeface="Lato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5A5A5A"/>
                              </a:solidFill>
                              <a:latin typeface="Cambria Math" panose="02040503050406030204" pitchFamily="18" charset="0"/>
                              <a:ea typeface="Lato"/>
                              <a:cs typeface="Lato"/>
                            </a:rPr>
                            <m:t>𝜆</m:t>
                          </m:r>
                          <m:r>
                            <a:rPr lang="en-US" sz="2400" b="0" i="1" smtClean="0">
                              <a:solidFill>
                                <a:srgbClr val="5A5A5A"/>
                              </a:solidFill>
                              <a:latin typeface="Cambria Math" panose="02040503050406030204" pitchFamily="18" charset="0"/>
                              <a:ea typeface="Lato"/>
                              <a:cs typeface="Lato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5A5A5A"/>
                              </a:solidFill>
                              <a:latin typeface="Cambria Math" panose="02040503050406030204" pitchFamily="18" charset="0"/>
                              <a:ea typeface="Lato"/>
                              <a:cs typeface="Lato"/>
                            </a:rPr>
                            <m:t>𝜆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𝑓𝑜𝑟</m:t>
                      </m:r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𝑙𝑎𝑟𝑔𝑒</m:t>
                      </m:r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5A5A5A"/>
                          </a:solidFill>
                          <a:latin typeface="Cambria Math" panose="02040503050406030204" pitchFamily="18" charset="0"/>
                          <a:ea typeface="Lato"/>
                          <a:cs typeface="Lato"/>
                        </a:rPr>
                        <m:t>𝜆</m:t>
                      </m:r>
                    </m:oMath>
                  </m:oMathPara>
                </a14:m>
                <a:endParaRPr lang="en-US" sz="2400" i="1" dirty="0">
                  <a:solidFill>
                    <a:srgbClr val="5A5A5A"/>
                  </a:solidFill>
                  <a:latin typeface="Lato"/>
                  <a:ea typeface="Lato"/>
                  <a:cs typeface="Lato"/>
                </a:endParaRPr>
              </a:p>
            </p:txBody>
          </p:sp>
        </mc:Choice>
        <mc:Fallback xmlns="">
          <p:sp>
            <p:nvSpPr>
              <p:cNvPr id="13" name="Body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015000"/>
                <a:ext cx="8046720" cy="5745000"/>
              </a:xfrm>
              <a:prstGeom prst="rect">
                <a:avLst/>
              </a:prstGeom>
              <a:blipFill>
                <a:blip r:embed="rId2"/>
                <a:stretch>
                  <a:fillRect l="-2366" t="-1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The number of generations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398000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Theorem 3.10.</a:t>
            </a:r>
          </a:p>
          <a:p>
            <a:pPr marL="0" indent="0" algn="l">
              <a:lnSpc>
                <a:spcPct val="118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number of generations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τ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splits into three additive pieces:</a:t>
            </a:r>
          </a:p>
          <a:p>
            <a:pPr marL="274320" indent="-228600" algn="l">
              <a:lnSpc>
                <a:spcPct val="116000"/>
              </a:lnSpc>
              <a:spcBef>
                <a:spcPts val="3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 slow </a:t>
            </a: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bottleneck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phase near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;</a:t>
            </a:r>
          </a:p>
          <a:p>
            <a:pPr marL="274320" indent="-228600" algn="l">
              <a:lnSpc>
                <a:spcPct val="116000"/>
              </a:lnSpc>
              <a:spcBef>
                <a:spcPts val="3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 </a:t>
            </a: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doubly-exponential growth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phase;</a:t>
            </a:r>
          </a:p>
          <a:p>
            <a:pPr marL="274320" indent="-228600" algn="l">
              <a:lnSpc>
                <a:spcPct val="116000"/>
              </a:lnSpc>
              <a:spcBef>
                <a:spcPts val="32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 short </a:t>
            </a: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final sweep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over the remaining vertices.</a:t>
            </a:r>
          </a:p>
          <a:p>
            <a:pPr marL="0" indent="0" algn="l">
              <a:lnSpc>
                <a:spcPct val="118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Example 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−α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2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:   </a:t>
            </a:r>
          </a:p>
          <a:p>
            <a:pPr marL="0" indent="0" algn="l">
              <a:lnSpc>
                <a:spcPct val="118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2400" b="0" i="1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τ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~ (log log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)/log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pic>
        <p:nvPicPr>
          <p:cNvPr id="14" name="d4_generations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640" y="2430034"/>
            <a:ext cx="3866720" cy="2714931"/>
          </a:xfrm>
          <a:prstGeom prst="rect">
            <a:avLst/>
          </a:prstGeom>
        </p:spPr>
      </p:pic>
      <p:sp>
        <p:nvSpPr>
          <p:cNvPr id="15" name="Cap 15"/>
          <p:cNvSpPr txBox="1"/>
          <p:nvPr/>
        </p:nvSpPr>
        <p:spPr>
          <a:xfrm>
            <a:off x="4728640" y="5184965"/>
            <a:ext cx="386672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Active set 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) by generation; essentially a Gompertz curve.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Dynamical variants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804672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Adding activity over time (Sec. 4).</a:t>
            </a:r>
          </a:p>
          <a:p>
            <a:pPr marL="274320" indent="-22860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Add activations: if the running seed satisfies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0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→ 1 the system is critical, with Poissonised fluctuations around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274320" indent="-22860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Add infections: critical when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J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0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/(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·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→ 1.</a:t>
            </a:r>
          </a:p>
          <a:p>
            <a:pPr marL="274320" indent="-22860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Add edges one at a time: percolation sets in at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M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C(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2) ·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(1 +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(1)) edges.</a:t>
            </a:r>
          </a:p>
          <a:p>
            <a:pPr marL="274320" indent="-22860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 single common construction couples all three pictures — and even one extra seed can move the threshold from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all the way to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Boundary regimes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804672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Outside the main window (Sec. 5).</a:t>
            </a:r>
          </a:p>
          <a:p>
            <a:pPr marL="274320" indent="-22860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Sparse,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~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~ θ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→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x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0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(θ); a genuine threshold exists only if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&gt;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 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3 for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2,  9/2 for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3).</a:t>
            </a:r>
          </a:p>
          <a:p>
            <a:pPr marL="274320" indent="-22860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Dense,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~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cn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−1/r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 P(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→ ζ(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in (0, 1) — percolation is non-degenerate.</a:t>
            </a:r>
          </a:p>
          <a:p>
            <a:pPr marL="274320" indent="-22860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For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&gt;&gt;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4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−1/r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and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≥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the graph percolates w.h.p.</a:t>
            </a:r>
          </a:p>
          <a:p>
            <a:pPr marL="274320" indent="-228600" algn="l">
              <a:lnSpc>
                <a:spcPct val="118000"/>
              </a:lnSpc>
              <a:spcBef>
                <a:spcPts val="48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case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1 recovers the classical Reed–Frost epidemic.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Proof idea: a bottleneck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406000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Overview of the proofs (Sec. 6).</a:t>
            </a:r>
          </a:p>
          <a:p>
            <a:pPr marL="0" indent="0" algn="l">
              <a:lnSpc>
                <a:spcPct val="118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Since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000" b="0" i="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*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is the first time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drops to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everything is governed by the deterministic drift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= E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−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274320" indent="-228600" algn="l">
              <a:lnSpc>
                <a:spcPct val="116000"/>
              </a:lnSpc>
              <a:spcBef>
                <a:spcPts val="36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starts at 0, dips to a minimum ≈ −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0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near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climbs to ≈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−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and returns to 0 at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274320" indent="-228600" algn="l">
              <a:lnSpc>
                <a:spcPct val="116000"/>
              </a:lnSpc>
              <a:spcBef>
                <a:spcPts val="36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seed gets past the bottleneck iff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exceeds the depth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0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of the dip.</a:t>
            </a:r>
          </a:p>
          <a:p>
            <a:pPr marL="274320" indent="-228600" algn="l">
              <a:lnSpc>
                <a:spcPct val="116000"/>
              </a:lnSpc>
              <a:spcBef>
                <a:spcPts val="36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behaviour near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</a:t>
            </a:r>
            <a:r>
              <a:rPr lang="en-US" sz="20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</a:t>
            </a:r>
            <a:r>
              <a:rPr lang="en-US" sz="20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separates almost- from complete percolation.</a:t>
            </a:r>
          </a:p>
        </p:txBody>
      </p:sp>
      <p:pic>
        <p:nvPicPr>
          <p:cNvPr id="14" name="d5_bottleneck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640" y="2458119"/>
            <a:ext cx="3786720" cy="2658761"/>
          </a:xfrm>
          <a:prstGeom prst="rect">
            <a:avLst/>
          </a:prstGeom>
        </p:spPr>
      </p:pic>
      <p:sp>
        <p:nvSpPr>
          <p:cNvPr id="15" name="Cap 15"/>
          <p:cNvSpPr txBox="1"/>
          <p:nvPr/>
        </p:nvSpPr>
        <p:spPr>
          <a:xfrm>
            <a:off x="4808640" y="5156880"/>
            <a:ext cx="3786720" cy="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The drift 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f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) = E 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S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) − </a:t>
            </a:r>
            <a:r>
              <a:rPr lang="en-US" sz="1100" b="0" i="1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1100" b="0" i="0" dirty="0">
                <a:solidFill>
                  <a:srgbClr val="5A5A5A"/>
                </a:solidFill>
                <a:latin typeface="Lato"/>
                <a:ea typeface="Lato"/>
                <a:cs typeface="Lato"/>
              </a:rPr>
              <a:t> and its critical dip.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Bar 11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2" name="Title 12"/>
          <p:cNvSpPr txBox="1"/>
          <p:nvPr/>
        </p:nvSpPr>
        <p:spPr>
          <a:xfrm>
            <a:off x="548640" y="0"/>
            <a:ext cx="80467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Summary</a:t>
            </a:r>
          </a:p>
        </p:txBody>
      </p:sp>
      <p:sp>
        <p:nvSpPr>
          <p:cNvPr id="13" name="Body 13"/>
          <p:cNvSpPr txBox="1"/>
          <p:nvPr/>
        </p:nvSpPr>
        <p:spPr>
          <a:xfrm>
            <a:off x="548640" y="1015000"/>
            <a:ext cx="8046720" cy="57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3333B2"/>
                </a:solidFill>
                <a:latin typeface="Lato"/>
                <a:ea typeface="Lato"/>
                <a:cs typeface="Lato"/>
              </a:rPr>
              <a:t>Takeaways.</a:t>
            </a:r>
          </a:p>
          <a:p>
            <a:pPr marL="274320" indent="-228600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Bootstrap percolation on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G</a:t>
            </a:r>
            <a:r>
              <a:rPr lang="en-US" sz="2400" b="0" i="1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n,p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has a sharp threshold at seed size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= (1 − 1/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r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with transition window √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baseline="-2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274320" indent="-228600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full 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phase diagram is known, including the gap between almost- and complete percolation for large seeds.</a:t>
            </a:r>
          </a:p>
          <a:p>
            <a:pPr marL="274320" indent="-228600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number of generations decomposes into bottleneck + doubly-exponential growth + final sweep.</a:t>
            </a:r>
          </a:p>
          <a:p>
            <a:pPr marL="274320" indent="-228600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Method: reparametrise the graph process in time into a one-dimensional walk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 − </a:t>
            </a:r>
            <a:r>
              <a:rPr lang="en-US" sz="2400" b="0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</a:t>
            </a: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(after Scalia-Tomba), then study its bottleneck.</a:t>
            </a:r>
          </a:p>
          <a:p>
            <a:pPr marL="274320" indent="-228600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3333B2"/>
              </a:buClr>
              <a:buSzPct val="80000"/>
              <a:buFont typeface="Lato"/>
              <a:buChar char="▪"/>
            </a:pPr>
            <a:r>
              <a:rPr lang="en-US" sz="2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same framework handles dynamical variants and the sparse / dense boundary regimes.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1458</Words>
  <Application>Microsoft Macintosh PowerPoint</Application>
  <PresentationFormat>On-screen Show (4:3)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Lato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Mei, Gary</cp:lastModifiedBy>
  <cp:revision>7</cp:revision>
  <dcterms:modified xsi:type="dcterms:W3CDTF">2026-06-17T17:12:05Z</dcterms:modified>
</cp:coreProperties>
</file>